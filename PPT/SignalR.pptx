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6918" autoAdjust="0"/>
  </p:normalViewPr>
  <p:slideViewPr>
    <p:cSldViewPr>
      <p:cViewPr varScale="1">
        <p:scale>
          <a:sx n="63" d="100"/>
          <a:sy n="63" d="100"/>
        </p:scale>
        <p:origin x="130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E9330-9392-43C4-950A-D5CED98CCE45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A3CD1D-C9AF-4900-92F4-C32D639F7F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087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680A37-438E-4024-AA4D-C37C88ABBE5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Santhosh Parsi</a:t>
            </a:r>
          </a:p>
        </p:txBody>
      </p:sp>
    </p:spTree>
    <p:extLst>
      <p:ext uri="{BB962C8B-B14F-4D97-AF65-F5344CB8AC3E}">
        <p14:creationId xmlns:p14="http://schemas.microsoft.com/office/powerpoint/2010/main" val="3733912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655EC-93C7-26C5-D945-5DDBDFFF0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42146A-5C0D-46C0-0DFB-0D9B852BB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2B89DA-32C9-AD1E-FB9D-4C5C74FC9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40336-8780-A337-01E4-ECE22E8145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680A37-438E-4024-AA4D-C37C88ABBE5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86C58-B9B5-BE39-D7EF-AA8FC3F11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Santhosh Parsi</a:t>
            </a:r>
          </a:p>
        </p:txBody>
      </p:sp>
    </p:spTree>
    <p:extLst>
      <p:ext uri="{BB962C8B-B14F-4D97-AF65-F5344CB8AC3E}">
        <p14:creationId xmlns:p14="http://schemas.microsoft.com/office/powerpoint/2010/main" val="3020185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D4A69-9A4A-9576-BB34-2E44EF0F8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C28A39-9D38-FA35-67D1-3BA45BBCEB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402707-F2C2-F98C-3435-65FBEFACC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0C8A0-02BF-FA26-2201-21B27AE6AA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680A37-438E-4024-AA4D-C37C88ABBE5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D0B38-BD67-D729-19E3-3AA62783D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Santhosh Parsi</a:t>
            </a:r>
          </a:p>
        </p:txBody>
      </p:sp>
    </p:spTree>
    <p:extLst>
      <p:ext uri="{BB962C8B-B14F-4D97-AF65-F5344CB8AC3E}">
        <p14:creationId xmlns:p14="http://schemas.microsoft.com/office/powerpoint/2010/main" val="3032252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22F57-3D9D-81AE-EDFD-CCFE8E392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AC8C01-47D1-AA9B-C41A-26F20DBACB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44275-34CD-A73D-E5F0-FB9A6D514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3CE04-5FCF-941D-8900-3EB40A58AF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680A37-438E-4024-AA4D-C37C88ABBE5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0329D-702F-C3BF-4F07-70F9956B4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Santhosh Parsi</a:t>
            </a:r>
          </a:p>
        </p:txBody>
      </p:sp>
    </p:spTree>
    <p:extLst>
      <p:ext uri="{BB962C8B-B14F-4D97-AF65-F5344CB8AC3E}">
        <p14:creationId xmlns:p14="http://schemas.microsoft.com/office/powerpoint/2010/main" val="36648669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82374-E24E-CC02-6DCB-9D3184D06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C0899E-0E1C-8EEF-ECA7-2849E6B54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654F36-A7AA-95D7-5B69-CA44A22D1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C4D9D-99DF-E5DA-5CF1-767F942A50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680A37-438E-4024-AA4D-C37C88ABBE5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ED1B9-FF69-C149-A1D4-04D83BD3E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Santhosh Parsi</a:t>
            </a:r>
          </a:p>
        </p:txBody>
      </p:sp>
    </p:spTree>
    <p:extLst>
      <p:ext uri="{BB962C8B-B14F-4D97-AF65-F5344CB8AC3E}">
        <p14:creationId xmlns:p14="http://schemas.microsoft.com/office/powerpoint/2010/main" val="2756923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9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1" y="2743201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1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1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1"/>
            <a:ext cx="2667000" cy="365125"/>
          </a:xfrm>
        </p:spPr>
        <p:txBody>
          <a:bodyPr rtlCol="0"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7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1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1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3"/>
            <a:ext cx="22098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8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9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9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9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9" y="144463"/>
            <a:ext cx="533400" cy="244476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357189" y="6215064"/>
            <a:ext cx="1643063" cy="5000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  <a:defRPr/>
            </a:pPr>
            <a:endParaRPr lang="he-IL">
              <a:solidFill>
                <a:prstClr val="white"/>
              </a:solidFill>
            </a:endParaRPr>
          </a:p>
        </p:txBody>
      </p:sp>
      <p:pic>
        <p:nvPicPr>
          <p:cNvPr id="5" name="Picture 5" descr="DevAcademy3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1" y="214314"/>
            <a:ext cx="2590800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5984" y="2928935"/>
            <a:ext cx="6500859" cy="1643074"/>
          </a:xfrm>
        </p:spPr>
        <p:txBody>
          <a:bodyPr anchor="t"/>
          <a:lstStyle>
            <a:lvl1pPr>
              <a:defRPr sz="4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he-IL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8596" y="5072075"/>
            <a:ext cx="6400800" cy="1643050"/>
          </a:xfrm>
        </p:spPr>
        <p:txBody>
          <a:bodyPr/>
          <a:lstStyle>
            <a:lvl1pPr marL="0" indent="0" algn="l">
              <a:buNone/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630287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83" y="71414"/>
            <a:ext cx="8715436" cy="857256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3" y="1142985"/>
            <a:ext cx="8715436" cy="52864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1048381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DevAcademy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813" y="5416551"/>
            <a:ext cx="2590800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5" y="2143117"/>
            <a:ext cx="7772400" cy="1143008"/>
          </a:xfrm>
        </p:spPr>
        <p:txBody>
          <a:bodyPr anchor="t">
            <a:noAutofit/>
          </a:bodyPr>
          <a:lstStyle>
            <a:lvl1pPr algn="l" rtl="0">
              <a:defRPr sz="8800" b="1" cap="all"/>
            </a:lvl1pPr>
          </a:lstStyle>
          <a:p>
            <a:r>
              <a:rPr lang="en-US"/>
              <a:t>Click to edit Master title style</a:t>
            </a:r>
            <a:endParaRPr lang="he-I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035" y="3357563"/>
            <a:ext cx="7772400" cy="879477"/>
          </a:xfrm>
        </p:spPr>
        <p:txBody>
          <a:bodyPr anchor="b">
            <a:normAutofit/>
          </a:bodyPr>
          <a:lstStyle>
            <a:lvl1pPr marL="0" indent="0">
              <a:buNone/>
              <a:defRPr sz="3600" b="1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888856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32858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6586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3.jpe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1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6248207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49" y="1280160"/>
            <a:ext cx="8553451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image1.jpe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6876"/>
            <a:ext cx="9144000" cy="646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4314" y="71438"/>
            <a:ext cx="8715375" cy="72548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14314" y="1000125"/>
            <a:ext cx="8715375" cy="542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8623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xStyles>
    <p:titleStyle>
      <a:lvl1pPr algn="l" rtl="0" fontAlgn="base">
        <a:spcBef>
          <a:spcPct val="0"/>
        </a:spcBef>
        <a:spcAft>
          <a:spcPct val="0"/>
        </a:spcAft>
        <a:defRPr sz="4400" b="1" kern="1200">
          <a:solidFill>
            <a:srgbClr val="FF99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FF9900"/>
          </a:solidFill>
          <a:latin typeface="Calibri" pitchFamily="34" charset="0"/>
          <a:cs typeface="Times New Roman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FF9900"/>
          </a:solidFill>
          <a:latin typeface="Calibri" pitchFamily="34" charset="0"/>
          <a:cs typeface="Times New Roman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FF9900"/>
          </a:solidFill>
          <a:latin typeface="Calibri" pitchFamily="34" charset="0"/>
          <a:cs typeface="Times New Roman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FF9900"/>
          </a:solidFill>
          <a:latin typeface="Calibri" pitchFamily="34" charset="0"/>
          <a:cs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rgbClr val="FF9900"/>
          </a:solidFill>
          <a:latin typeface="Calibri" pitchFamily="34" charset="0"/>
          <a:cs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rgbClr val="FF9900"/>
          </a:solidFill>
          <a:latin typeface="Calibri" pitchFamily="34" charset="0"/>
          <a:cs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rgbClr val="FF9900"/>
          </a:solidFill>
          <a:latin typeface="Calibri" pitchFamily="34" charset="0"/>
          <a:cs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rgbClr val="FF9900"/>
          </a:solidFill>
          <a:latin typeface="Calibri" pitchFamily="34" charset="0"/>
          <a:cs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dirty="0"/>
              <a:t>SignalR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>
            <a:normAutofit/>
          </a:bodyPr>
          <a:lstStyle/>
          <a:p>
            <a:r>
              <a:rPr lang="en-US" dirty="0"/>
              <a:t>What is SignalR?</a:t>
            </a:r>
            <a:endParaRPr lang="en-US" b="1" dirty="0"/>
          </a:p>
          <a:p>
            <a:r>
              <a:rPr lang="en-US" sz="2400" b="1" dirty="0"/>
              <a:t>SignalR</a:t>
            </a:r>
            <a:r>
              <a:rPr lang="en-US" sz="2400" dirty="0"/>
              <a:t> is a </a:t>
            </a:r>
            <a:r>
              <a:rPr lang="en-US" sz="2400" b="1" dirty="0"/>
              <a:t>real-time communication library</a:t>
            </a:r>
            <a:r>
              <a:rPr lang="en-US" sz="2400" dirty="0"/>
              <a:t> provided by </a:t>
            </a:r>
            <a:r>
              <a:rPr lang="en-US" sz="2400" b="1" dirty="0"/>
              <a:t>ASP.NET Core</a:t>
            </a:r>
            <a:r>
              <a:rPr lang="en-US" sz="2400" dirty="0"/>
              <a:t> that allows your web applications to </a:t>
            </a:r>
            <a:r>
              <a:rPr lang="en-US" sz="2400" b="1" dirty="0"/>
              <a:t>send and receive messages instantly</a:t>
            </a:r>
            <a:r>
              <a:rPr lang="en-US" sz="2400" dirty="0"/>
              <a:t> between the </a:t>
            </a:r>
            <a:r>
              <a:rPr lang="en-US" sz="2400" b="1" dirty="0"/>
              <a:t>server and connected clients</a:t>
            </a:r>
            <a:r>
              <a:rPr lang="en-US" sz="2400" dirty="0"/>
              <a:t> (like browsers, mobile apps, or desktop apps).</a:t>
            </a:r>
          </a:p>
          <a:p>
            <a:r>
              <a:rPr lang="en-US" sz="2400" dirty="0"/>
              <a:t>It helps you </a:t>
            </a:r>
            <a:r>
              <a:rPr lang="en-US" sz="2400" b="1" dirty="0"/>
              <a:t>push updates</a:t>
            </a:r>
            <a:r>
              <a:rPr lang="en-US" sz="2400" dirty="0"/>
              <a:t> from the server to the client </a:t>
            </a:r>
            <a:r>
              <a:rPr lang="en-US" sz="2400" b="1" dirty="0"/>
              <a:t>without the client having to refresh or request again.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CB9F3-A36A-CAC6-DAA7-52FE93624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6E4B7B-0A8B-AFAF-515E-35B21DBDE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dirty="0"/>
              <a:t>SignalR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EC480D-3FBC-AD04-6B3A-730FFA786FA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>
            <a:normAutofit/>
          </a:bodyPr>
          <a:lstStyle/>
          <a:p>
            <a:r>
              <a:rPr lang="en-US" sz="2400" dirty="0"/>
              <a:t>⚙️ </a:t>
            </a:r>
            <a:r>
              <a:rPr lang="en-US" sz="2400" b="1" dirty="0"/>
              <a:t>How SignalR Works</a:t>
            </a:r>
          </a:p>
          <a:p>
            <a:r>
              <a:rPr lang="en-US" sz="2400" dirty="0"/>
              <a:t>SignalR uses a </a:t>
            </a:r>
            <a:r>
              <a:rPr lang="en-US" sz="2400" b="1" dirty="0"/>
              <a:t>persistent connection</a:t>
            </a:r>
            <a:r>
              <a:rPr lang="en-US" sz="2400" dirty="0"/>
              <a:t> between the server and clients using one of these underlying technologies (automatically selected based on browser support)</a:t>
            </a:r>
          </a:p>
          <a:p>
            <a:r>
              <a:rPr lang="en-US" sz="2400" b="1" dirty="0" err="1"/>
              <a:t>WebSockets</a:t>
            </a:r>
            <a:r>
              <a:rPr lang="en-US" sz="2400" dirty="0"/>
              <a:t> (preferred)</a:t>
            </a:r>
          </a:p>
          <a:p>
            <a:r>
              <a:rPr lang="en-US" sz="2400" dirty="0"/>
              <a:t>Server-Sent Events (SSE)</a:t>
            </a:r>
          </a:p>
          <a:p>
            <a:r>
              <a:rPr lang="en-US" sz="2400" dirty="0"/>
              <a:t>Long Polling</a:t>
            </a:r>
          </a:p>
          <a:p>
            <a:r>
              <a:rPr lang="en-US" sz="2400" dirty="0"/>
              <a:t>You don’t need to configure this manually — SignalR handles it for you.</a:t>
            </a:r>
          </a:p>
        </p:txBody>
      </p:sp>
    </p:spTree>
    <p:extLst>
      <p:ext uri="{BB962C8B-B14F-4D97-AF65-F5344CB8AC3E}">
        <p14:creationId xmlns:p14="http://schemas.microsoft.com/office/powerpoint/2010/main" val="3803748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CFC44-7C11-DF5C-8828-C4FB7866D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06281A-1B6B-692D-A73E-3FE333BBB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dirty="0"/>
              <a:t>SignalR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E4E381-C2A3-AD21-ACEE-6492B15AC53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>
            <a:normAutofit/>
          </a:bodyPr>
          <a:lstStyle/>
          <a:p>
            <a:r>
              <a:rPr lang="en-US" sz="2400" dirty="0"/>
              <a:t>Role of SignalR in a Blazor App</a:t>
            </a:r>
          </a:p>
          <a:p>
            <a:endParaRPr lang="en-US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768FD8E-FB4B-7092-A729-DBBF33B14A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353135"/>
              </p:ext>
            </p:extLst>
          </p:nvPr>
        </p:nvGraphicFramePr>
        <p:xfrm>
          <a:off x="403352" y="2362200"/>
          <a:ext cx="8362695" cy="274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9848">
                  <a:extLst>
                    <a:ext uri="{9D8B030D-6E8A-4147-A177-3AD203B41FA5}">
                      <a16:colId xmlns:a16="http://schemas.microsoft.com/office/drawing/2014/main" val="1737443353"/>
                    </a:ext>
                  </a:extLst>
                </a:gridCol>
                <a:gridCol w="3235282">
                  <a:extLst>
                    <a:ext uri="{9D8B030D-6E8A-4147-A177-3AD203B41FA5}">
                      <a16:colId xmlns:a16="http://schemas.microsoft.com/office/drawing/2014/main" val="2655871292"/>
                    </a:ext>
                  </a:extLst>
                </a:gridCol>
                <a:gridCol w="2787565">
                  <a:extLst>
                    <a:ext uri="{9D8B030D-6E8A-4147-A177-3AD203B41FA5}">
                      <a16:colId xmlns:a16="http://schemas.microsoft.com/office/drawing/2014/main" val="41275907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Where Code Runs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SignalR Role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860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Blazor Server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 the server (.NET runtime runs on server)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SignalR is built-in and required</a:t>
                      </a:r>
                      <a:r>
                        <a:rPr lang="en-US"/>
                        <a:t> to maintain a </a:t>
                      </a:r>
                      <a:r>
                        <a:rPr lang="en-US" i="1"/>
                        <a:t>real-time connection</a:t>
                      </a:r>
                      <a:r>
                        <a:rPr lang="en-US"/>
                        <a:t> between the browser and the server.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8028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Blazor WebAssembly (WASM)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 the client (in browser via WebAssembly)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SignalR is </a:t>
                      </a:r>
                      <a:r>
                        <a:rPr lang="en-US" b="1" dirty="0"/>
                        <a:t>optional</a:t>
                      </a:r>
                      <a:r>
                        <a:rPr lang="en-US" dirty="0"/>
                        <a:t> — used only when you need real-time updates from a backend server.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70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4339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B335B-B95B-E751-8EEF-59011BAA3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66B62B-260E-6254-2276-9B6D53328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dirty="0"/>
              <a:t>SignalR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A7E922-41D7-56F2-9DAF-D65595138D3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>
            <a:normAutofit fontScale="25000" lnSpcReduction="20000"/>
          </a:bodyPr>
          <a:lstStyle/>
          <a:p>
            <a:r>
              <a:rPr lang="en-US" sz="6800" b="1" dirty="0"/>
              <a:t>🧩 In Blazor Server</a:t>
            </a:r>
          </a:p>
          <a:p>
            <a:r>
              <a:rPr lang="en-US" sz="6800" dirty="0"/>
              <a:t>Every user interaction (like button click or form input) is sent to the server via </a:t>
            </a:r>
            <a:r>
              <a:rPr lang="en-US" sz="6800" b="1" dirty="0"/>
              <a:t>SignalR</a:t>
            </a:r>
            <a:r>
              <a:rPr lang="en-US" sz="6800" dirty="0"/>
              <a:t>.</a:t>
            </a:r>
          </a:p>
          <a:p>
            <a:r>
              <a:rPr lang="en-US" sz="6800" dirty="0"/>
              <a:t>The server processes the event and sends back UI updates — </a:t>
            </a:r>
            <a:r>
              <a:rPr lang="en-US" sz="6800" i="1" dirty="0"/>
              <a:t>real-time synchronization</a:t>
            </a:r>
            <a:r>
              <a:rPr lang="en-US" sz="6800" dirty="0"/>
              <a:t>.</a:t>
            </a:r>
          </a:p>
          <a:p>
            <a:r>
              <a:rPr lang="en-US" sz="6800" dirty="0"/>
              <a:t>That’s why </a:t>
            </a:r>
            <a:r>
              <a:rPr lang="en-US" sz="6800" b="1" dirty="0"/>
              <a:t>Blazor Server apps need SignalR running all the time</a:t>
            </a:r>
            <a:r>
              <a:rPr lang="en-US" sz="6800" dirty="0"/>
              <a:t>.</a:t>
            </a:r>
          </a:p>
          <a:p>
            <a:r>
              <a:rPr lang="en-US" sz="6800" dirty="0"/>
              <a:t>👉 Without SignalR, Blazor Server cannot function — it’s the backbone of communication.</a:t>
            </a:r>
          </a:p>
          <a:p>
            <a:r>
              <a:rPr lang="en-US" sz="6800" b="1" dirty="0"/>
              <a:t>🧩 In Blazor WebAssembly</a:t>
            </a:r>
          </a:p>
          <a:p>
            <a:r>
              <a:rPr lang="en-US" sz="6800" dirty="0"/>
              <a:t>The app runs completely in the browser.</a:t>
            </a:r>
          </a:p>
          <a:p>
            <a:r>
              <a:rPr lang="en-US" sz="6800" dirty="0"/>
              <a:t>But if you need </a:t>
            </a:r>
            <a:r>
              <a:rPr lang="en-US" sz="6800" b="1" dirty="0"/>
              <a:t>real-time notifications, chat, or updates</a:t>
            </a:r>
            <a:r>
              <a:rPr lang="en-US" sz="6800" dirty="0"/>
              <a:t>, you can </a:t>
            </a:r>
            <a:r>
              <a:rPr lang="en-US" sz="6800" b="1" dirty="0"/>
              <a:t>add SignalR manually</a:t>
            </a:r>
            <a:r>
              <a:rPr lang="en-US" sz="6800" dirty="0"/>
              <a:t> to connect to an ASP.NET Core backend.</a:t>
            </a:r>
          </a:p>
          <a:p>
            <a:r>
              <a:rPr lang="en-US" sz="6800" b="1" dirty="0"/>
              <a:t>Example Use Cases in Blazor WebAssembly:</a:t>
            </a:r>
            <a:endParaRPr lang="en-US" sz="6800" dirty="0"/>
          </a:p>
          <a:p>
            <a:r>
              <a:rPr lang="en-US" sz="6800" dirty="0"/>
              <a:t>Real-time chat system</a:t>
            </a:r>
          </a:p>
          <a:p>
            <a:r>
              <a:rPr lang="en-US" sz="6800" dirty="0"/>
              <a:t>Live dashboards (IoT, stock prices, analytics)</a:t>
            </a:r>
          </a:p>
          <a:p>
            <a:r>
              <a:rPr lang="en-US" sz="6800" dirty="0"/>
              <a:t>Notifications (new message alerts, user activity updates)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68754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64A93-D7E4-59F4-29BD-530BE2D4A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2AFB9E-C322-64D9-DC8A-80FD0CE69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dirty="0"/>
              <a:t>SignalR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4A8008B6-C053-FDAF-7EDB-30D3424A8495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630624114"/>
              </p:ext>
            </p:extLst>
          </p:nvPr>
        </p:nvGraphicFramePr>
        <p:xfrm>
          <a:off x="381000" y="2971800"/>
          <a:ext cx="8385048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5016">
                  <a:extLst>
                    <a:ext uri="{9D8B030D-6E8A-4147-A177-3AD203B41FA5}">
                      <a16:colId xmlns:a16="http://schemas.microsoft.com/office/drawing/2014/main" val="951945733"/>
                    </a:ext>
                  </a:extLst>
                </a:gridCol>
                <a:gridCol w="2795016">
                  <a:extLst>
                    <a:ext uri="{9D8B030D-6E8A-4147-A177-3AD203B41FA5}">
                      <a16:colId xmlns:a16="http://schemas.microsoft.com/office/drawing/2014/main" val="3687021466"/>
                    </a:ext>
                  </a:extLst>
                </a:gridCol>
                <a:gridCol w="2795016">
                  <a:extLst>
                    <a:ext uri="{9D8B030D-6E8A-4147-A177-3AD203B41FA5}">
                      <a16:colId xmlns:a16="http://schemas.microsoft.com/office/drawing/2014/main" val="41828844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Blazor 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Blazor WebAssembly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3575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Uses SignalR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Built-in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⚙️ Optional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4452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Maintain live connection between UI and 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Real-time data updates or notifications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2875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Connection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Persistent via SignalR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Created manually using SignalR Hub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1981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Chat, dashboards, live forms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Notifications, multiplayer games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6912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55832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8308</TotalTime>
  <Words>398</Words>
  <Application>Microsoft Office PowerPoint</Application>
  <PresentationFormat>On-screen Show (4:3)</PresentationFormat>
  <Paragraphs>61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Tw Cen MT</vt:lpstr>
      <vt:lpstr>Wingdings</vt:lpstr>
      <vt:lpstr>Wingdings 2</vt:lpstr>
      <vt:lpstr>Median</vt:lpstr>
      <vt:lpstr>Custom Design</vt:lpstr>
      <vt:lpstr>SignalR</vt:lpstr>
      <vt:lpstr>SignalR</vt:lpstr>
      <vt:lpstr>SignalR</vt:lpstr>
      <vt:lpstr>SignalR</vt:lpstr>
      <vt:lpstr>SignalR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</dc:title>
  <dc:creator>santuparsi</dc:creator>
  <cp:lastModifiedBy>Santhosh Kumar</cp:lastModifiedBy>
  <cp:revision>393</cp:revision>
  <dcterms:created xsi:type="dcterms:W3CDTF">2006-08-16T00:00:00Z</dcterms:created>
  <dcterms:modified xsi:type="dcterms:W3CDTF">2025-10-11T12:55:54Z</dcterms:modified>
</cp:coreProperties>
</file>