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2" r:id="rId2"/>
  </p:sldMasterIdLst>
  <p:sldIdLst>
    <p:sldId id="256" r:id="rId3"/>
    <p:sldId id="261" r:id="rId4"/>
    <p:sldId id="258" r:id="rId5"/>
    <p:sldId id="259" r:id="rId6"/>
    <p:sldId id="266" r:id="rId7"/>
    <p:sldId id="274" r:id="rId8"/>
    <p:sldId id="275" r:id="rId9"/>
    <p:sldId id="262" r:id="rId10"/>
    <p:sldId id="276" r:id="rId11"/>
    <p:sldId id="264" r:id="rId12"/>
    <p:sldId id="267" r:id="rId13"/>
    <p:sldId id="270" r:id="rId14"/>
    <p:sldId id="263" r:id="rId15"/>
    <p:sldId id="273" r:id="rId16"/>
    <p:sldId id="269"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6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15F68371-CFC5-4EA9-AF34-4B1EB8E4CCBC}" type="datetimeFigureOut">
              <a:rPr lang="en-US" smtClean="0"/>
              <a:t>10/14/2025</a:t>
            </a:fld>
            <a:endParaRPr lang="en-US"/>
          </a:p>
        </p:txBody>
      </p:sp>
      <p:sp>
        <p:nvSpPr>
          <p:cNvPr id="17" name="Footer Placeholder 16"/>
          <p:cNvSpPr>
            <a:spLocks noGrp="1"/>
          </p:cNvSpPr>
          <p:nvPr>
            <p:ph type="ftr" sz="quarter" idx="11"/>
          </p:nvPr>
        </p:nvSpPr>
        <p:spPr>
          <a:xfrm>
            <a:off x="2780524" y="236540"/>
            <a:ext cx="78232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93397AD3-853C-40B4-8928-A891931DB425}" type="slidenum">
              <a:rPr lang="en-US" smtClean="0"/>
              <a:t>‹#›</a:t>
            </a:fld>
            <a:endParaRPr lang="en-US"/>
          </a:p>
        </p:txBody>
      </p:sp>
    </p:spTree>
    <p:extLst>
      <p:ext uri="{BB962C8B-B14F-4D97-AF65-F5344CB8AC3E}">
        <p14:creationId xmlns:p14="http://schemas.microsoft.com/office/powerpoint/2010/main" val="35504024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5F68371-CFC5-4EA9-AF34-4B1EB8E4CCBC}"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3397AD3-853C-40B4-8928-A891931DB425}" type="slidenum">
              <a:rPr lang="en-US" smtClean="0"/>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6506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2" y="2743202"/>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5F68371-CFC5-4EA9-AF34-4B1EB8E4CCBC}" type="datetimeFigureOut">
              <a:rPr lang="en-US" smtClean="0"/>
              <a:t>10/14/2025</a:t>
            </a:fld>
            <a:endParaRPr lang="en-US"/>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93397AD3-853C-40B4-8928-A891931DB425}"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54523687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5F68371-CFC5-4EA9-AF34-4B1EB8E4CCBC}" type="datetimeFigureOut">
              <a:rPr lang="en-US" smtClean="0"/>
              <a:t>10/14/2025</a:t>
            </a:fld>
            <a:endParaRPr lang="en-US"/>
          </a:p>
        </p:txBody>
      </p:sp>
      <p:sp>
        <p:nvSpPr>
          <p:cNvPr id="10" name="Slide Number Placeholder 9"/>
          <p:cNvSpPr>
            <a:spLocks noGrp="1"/>
          </p:cNvSpPr>
          <p:nvPr>
            <p:ph type="sldNum" sz="quarter" idx="16"/>
          </p:nvPr>
        </p:nvSpPr>
        <p:spPr/>
        <p:txBody>
          <a:bodyPr rtlCol="0"/>
          <a:lstStyle/>
          <a:p>
            <a:fld id="{93397AD3-853C-40B4-8928-A891931DB425}"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4207407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1"/>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5F68371-CFC5-4EA9-AF34-4B1EB8E4CCBC}" type="datetimeFigureOut">
              <a:rPr lang="en-US" smtClean="0"/>
              <a:t>10/14/2025</a:t>
            </a:fld>
            <a:endParaRPr lang="en-US"/>
          </a:p>
        </p:txBody>
      </p:sp>
      <p:sp>
        <p:nvSpPr>
          <p:cNvPr id="12" name="Slide Number Placeholder 11"/>
          <p:cNvSpPr>
            <a:spLocks noGrp="1"/>
          </p:cNvSpPr>
          <p:nvPr>
            <p:ph type="sldNum" sz="quarter" idx="16"/>
          </p:nvPr>
        </p:nvSpPr>
        <p:spPr/>
        <p:txBody>
          <a:bodyPr rtlCol="0"/>
          <a:lstStyle/>
          <a:p>
            <a:fld id="{93397AD3-853C-40B4-8928-A891931DB425}"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131907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5F68371-CFC5-4EA9-AF34-4B1EB8E4CCBC}"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93397AD3-853C-40B4-8928-A891931DB425}" type="slidenum">
              <a:rPr lang="en-US" smtClean="0"/>
              <a:t>‹#›</a:t>
            </a:fld>
            <a:endParaRPr lang="en-US"/>
          </a:p>
        </p:txBody>
      </p:sp>
    </p:spTree>
    <p:extLst>
      <p:ext uri="{BB962C8B-B14F-4D97-AF65-F5344CB8AC3E}">
        <p14:creationId xmlns:p14="http://schemas.microsoft.com/office/powerpoint/2010/main" val="2267362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F68371-CFC5-4EA9-AF34-4B1EB8E4CCBC}" type="datetimeFigureOut">
              <a:rPr lang="en-US" smtClean="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93397AD3-853C-40B4-8928-A891931DB425}" type="slidenum">
              <a:rPr lang="en-US" smtClean="0"/>
              <a:t>‹#›</a:t>
            </a:fld>
            <a:endParaRPr lang="en-US"/>
          </a:p>
        </p:txBody>
      </p:sp>
    </p:spTree>
    <p:extLst>
      <p:ext uri="{BB962C8B-B14F-4D97-AF65-F5344CB8AC3E}">
        <p14:creationId xmlns:p14="http://schemas.microsoft.com/office/powerpoint/2010/main" val="404543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1"/>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5F68371-CFC5-4EA9-AF34-4B1EB8E4CCBC}"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93397AD3-853C-40B4-8928-A891931DB425}" type="slidenum">
              <a:rPr lang="en-US" smtClean="0"/>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8231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Date Placeholder 11"/>
          <p:cNvSpPr>
            <a:spLocks noGrp="1"/>
          </p:cNvSpPr>
          <p:nvPr>
            <p:ph type="dt" sz="half" idx="10"/>
          </p:nvPr>
        </p:nvSpPr>
        <p:spPr>
          <a:xfrm>
            <a:off x="8331200" y="6248402"/>
            <a:ext cx="3556000" cy="365125"/>
          </a:xfrm>
        </p:spPr>
        <p:txBody>
          <a:bodyPr rtlCol="0"/>
          <a:lstStyle/>
          <a:p>
            <a:fld id="{15F68371-CFC5-4EA9-AF34-4B1EB8E4CCBC}" type="datetimeFigureOut">
              <a:rPr lang="en-US" smtClean="0"/>
              <a:t>10/14/2025</a:t>
            </a:fld>
            <a:endParaRPr lang="en-US"/>
          </a:p>
        </p:txBody>
      </p:sp>
      <p:sp>
        <p:nvSpPr>
          <p:cNvPr id="13" name="Slide Number Placeholder 12"/>
          <p:cNvSpPr>
            <a:spLocks noGrp="1"/>
          </p:cNvSpPr>
          <p:nvPr>
            <p:ph type="sldNum" sz="quarter" idx="11"/>
          </p:nvPr>
        </p:nvSpPr>
        <p:spPr>
          <a:xfrm>
            <a:off x="0" y="4667250"/>
            <a:ext cx="1930400" cy="663578"/>
          </a:xfrm>
        </p:spPr>
        <p:txBody>
          <a:bodyPr rtlCol="0"/>
          <a:lstStyle>
            <a:lvl1pPr>
              <a:defRPr sz="2800"/>
            </a:lvl1pPr>
          </a:lstStyle>
          <a:p>
            <a:fld id="{93397AD3-853C-40B4-8928-A891931DB425}" type="slidenum">
              <a:rPr lang="en-US" smtClean="0"/>
              <a:t>‹#›</a:t>
            </a:fld>
            <a:endParaRPr lang="en-US"/>
          </a:p>
        </p:txBody>
      </p:sp>
      <p:sp>
        <p:nvSpPr>
          <p:cNvPr id="14" name="Footer Placeholder 13"/>
          <p:cNvSpPr>
            <a:spLocks noGrp="1"/>
          </p:cNvSpPr>
          <p:nvPr>
            <p:ph type="ftr" sz="quarter" idx="12"/>
          </p:nvPr>
        </p:nvSpPr>
        <p:spPr>
          <a:xfrm>
            <a:off x="2133600" y="6248208"/>
            <a:ext cx="6096000" cy="365125"/>
          </a:xfrm>
        </p:spPr>
        <p:txBody>
          <a:bodyPr rtlCol="0"/>
          <a:lstStyle/>
          <a:p>
            <a:endParaRPr lang="en-US"/>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315216726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5F68371-CFC5-4EA9-AF34-4B1EB8E4CCBC}"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97AD3-853C-40B4-8928-A891931DB425}" type="slidenum">
              <a:rPr lang="en-US" smtClean="0"/>
              <a:t>‹#›</a:t>
            </a:fld>
            <a:endParaRPr lang="en-US"/>
          </a:p>
        </p:txBody>
      </p:sp>
    </p:spTree>
    <p:extLst>
      <p:ext uri="{BB962C8B-B14F-4D97-AF65-F5344CB8AC3E}">
        <p14:creationId xmlns:p14="http://schemas.microsoft.com/office/powerpoint/2010/main" val="3582582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2"/>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1"/>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4"/>
            <a:ext cx="2946400" cy="365125"/>
          </a:xfrm>
        </p:spPr>
        <p:txBody>
          <a:bodyPr/>
          <a:lstStyle/>
          <a:p>
            <a:fld id="{15F68371-CFC5-4EA9-AF34-4B1EB8E4CCBC}" type="datetimeFigureOut">
              <a:rPr lang="en-US" smtClean="0"/>
              <a:t>10/14/2025</a:t>
            </a:fld>
            <a:endParaRPr lang="en-US"/>
          </a:p>
        </p:txBody>
      </p:sp>
      <p:sp>
        <p:nvSpPr>
          <p:cNvPr id="5" name="Footer Placeholder 4"/>
          <p:cNvSpPr>
            <a:spLocks noGrp="1"/>
          </p:cNvSpPr>
          <p:nvPr>
            <p:ph type="ftr" sz="quarter" idx="11"/>
          </p:nvPr>
        </p:nvSpPr>
        <p:spPr>
          <a:xfrm>
            <a:off x="609602" y="6248209"/>
            <a:ext cx="7431311" cy="365125"/>
          </a:xfrm>
        </p:spPr>
        <p:txBody>
          <a:bodyPr/>
          <a:lstStyle/>
          <a:p>
            <a:endParaRPr lang="en-US"/>
          </a:p>
        </p:txBody>
      </p:sp>
      <p:sp>
        <p:nvSpPr>
          <p:cNvPr id="7" name="Rectangle 6"/>
          <p:cNvSpPr/>
          <p:nvPr/>
        </p:nvSpPr>
        <p:spPr bwMode="white">
          <a:xfrm>
            <a:off x="8128425"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5"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5"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Slide Number Placeholder 5"/>
          <p:cNvSpPr>
            <a:spLocks noGrp="1"/>
          </p:cNvSpPr>
          <p:nvPr>
            <p:ph type="sldNum" sz="quarter" idx="12"/>
          </p:nvPr>
        </p:nvSpPr>
        <p:spPr>
          <a:xfrm rot="5400000">
            <a:off x="8075085" y="103717"/>
            <a:ext cx="533400" cy="325968"/>
          </a:xfrm>
        </p:spPr>
        <p:txBody>
          <a:bodyPr/>
          <a:lstStyle/>
          <a:p>
            <a:fld id="{93397AD3-853C-40B4-8928-A891931DB425}" type="slidenum">
              <a:rPr lang="en-US" smtClean="0"/>
              <a:t>‹#›</a:t>
            </a:fld>
            <a:endParaRPr lang="en-US"/>
          </a:p>
        </p:txBody>
      </p:sp>
    </p:spTree>
    <p:extLst>
      <p:ext uri="{BB962C8B-B14F-4D97-AF65-F5344CB8AC3E}">
        <p14:creationId xmlns:p14="http://schemas.microsoft.com/office/powerpoint/2010/main" val="32713920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476253" y="6215064"/>
            <a:ext cx="2190751" cy="5000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fontAlgn="base">
              <a:spcBef>
                <a:spcPct val="0"/>
              </a:spcBef>
              <a:spcAft>
                <a:spcPct val="0"/>
              </a:spcAft>
              <a:defRPr/>
            </a:pPr>
            <a:endParaRPr lang="he-IL" sz="1800">
              <a:solidFill>
                <a:prstClr val="white"/>
              </a:solidFill>
            </a:endParaRPr>
          </a:p>
        </p:txBody>
      </p:sp>
      <p:pic>
        <p:nvPicPr>
          <p:cNvPr id="5" name="Picture 5" descr="DevAcademy3.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1" y="214314"/>
            <a:ext cx="34544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047979" y="2928935"/>
            <a:ext cx="8667812" cy="1643074"/>
          </a:xfrm>
        </p:spPr>
        <p:txBody>
          <a:bodyPr anchor="t"/>
          <a:lstStyle>
            <a:lvl1pPr>
              <a:defRPr sz="4800">
                <a:solidFill>
                  <a:schemeClr val="tx1">
                    <a:lumMod val="95000"/>
                    <a:lumOff val="5000"/>
                  </a:schemeClr>
                </a:solidFill>
              </a:defRPr>
            </a:lvl1pPr>
          </a:lstStyle>
          <a:p>
            <a:r>
              <a:rPr lang="en-US"/>
              <a:t>Click to edit Master title style</a:t>
            </a:r>
            <a:endParaRPr lang="he-IL" dirty="0"/>
          </a:p>
        </p:txBody>
      </p:sp>
      <p:sp>
        <p:nvSpPr>
          <p:cNvPr id="3" name="Subtitle 2"/>
          <p:cNvSpPr>
            <a:spLocks noGrp="1"/>
          </p:cNvSpPr>
          <p:nvPr>
            <p:ph type="subTitle" idx="1"/>
          </p:nvPr>
        </p:nvSpPr>
        <p:spPr>
          <a:xfrm>
            <a:off x="571461" y="5072075"/>
            <a:ext cx="8534400" cy="1643050"/>
          </a:xfrm>
        </p:spPr>
        <p:txBody>
          <a:bodyPr/>
          <a:lstStyle>
            <a:lvl1pPr marL="0" indent="0" algn="l">
              <a:buNone/>
              <a:defRPr sz="2800" b="1">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dirty="0"/>
          </a:p>
        </p:txBody>
      </p:sp>
    </p:spTree>
    <p:extLst>
      <p:ext uri="{BB962C8B-B14F-4D97-AF65-F5344CB8AC3E}">
        <p14:creationId xmlns:p14="http://schemas.microsoft.com/office/powerpoint/2010/main" val="1281424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5711" y="71414"/>
            <a:ext cx="11620581" cy="857256"/>
          </a:xfrm>
        </p:spPr>
        <p:txBody>
          <a:bodyPr/>
          <a:lstStyle/>
          <a:p>
            <a:r>
              <a:rPr lang="en-US"/>
              <a:t>Click to edit Master title style</a:t>
            </a:r>
            <a:endParaRPr lang="he-IL" dirty="0"/>
          </a:p>
        </p:txBody>
      </p:sp>
      <p:sp>
        <p:nvSpPr>
          <p:cNvPr id="3" name="Content Placeholder 2"/>
          <p:cNvSpPr>
            <a:spLocks noGrp="1"/>
          </p:cNvSpPr>
          <p:nvPr>
            <p:ph idx="1"/>
          </p:nvPr>
        </p:nvSpPr>
        <p:spPr>
          <a:xfrm>
            <a:off x="285711" y="1142985"/>
            <a:ext cx="11620581" cy="528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Tree>
    <p:extLst>
      <p:ext uri="{BB962C8B-B14F-4D97-AF65-F5344CB8AC3E}">
        <p14:creationId xmlns:p14="http://schemas.microsoft.com/office/powerpoint/2010/main" val="2202271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4" descr="DevAcademy3.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7751" y="5416551"/>
            <a:ext cx="34544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66713" y="2143117"/>
            <a:ext cx="10363200" cy="1143008"/>
          </a:xfrm>
        </p:spPr>
        <p:txBody>
          <a:bodyPr anchor="t">
            <a:noAutofit/>
          </a:bodyPr>
          <a:lstStyle>
            <a:lvl1pPr algn="l" rtl="0">
              <a:defRPr sz="8800" b="1" cap="all"/>
            </a:lvl1pPr>
          </a:lstStyle>
          <a:p>
            <a:r>
              <a:rPr lang="en-US"/>
              <a:t>Click to edit Master title style</a:t>
            </a:r>
            <a:endParaRPr lang="he-IL" dirty="0"/>
          </a:p>
        </p:txBody>
      </p:sp>
      <p:sp>
        <p:nvSpPr>
          <p:cNvPr id="3" name="Text Placeholder 2"/>
          <p:cNvSpPr>
            <a:spLocks noGrp="1"/>
          </p:cNvSpPr>
          <p:nvPr>
            <p:ph type="body" idx="1"/>
          </p:nvPr>
        </p:nvSpPr>
        <p:spPr>
          <a:xfrm>
            <a:off x="666713" y="3357564"/>
            <a:ext cx="10363200" cy="879477"/>
          </a:xfrm>
        </p:spPr>
        <p:txBody>
          <a:bodyPr anchor="b">
            <a:normAutofit/>
          </a:bodyPr>
          <a:lstStyle>
            <a:lvl1pPr marL="0" indent="0">
              <a:buNone/>
              <a:defRPr sz="3600" b="1"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60124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Tree>
    <p:extLst>
      <p:ext uri="{BB962C8B-B14F-4D97-AF65-F5344CB8AC3E}">
        <p14:creationId xmlns:p14="http://schemas.microsoft.com/office/powerpoint/2010/main" val="3418199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5189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2"/>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15F68371-CFC5-4EA9-AF34-4B1EB8E4CCBC}" type="datetimeFigureOut">
              <a:rPr lang="en-US" smtClean="0"/>
              <a:t>10/14/2025</a:t>
            </a:fld>
            <a:endParaRPr lang="en-US"/>
          </a:p>
        </p:txBody>
      </p:sp>
      <p:sp>
        <p:nvSpPr>
          <p:cNvPr id="3" name="Footer Placeholder 2"/>
          <p:cNvSpPr>
            <a:spLocks noGrp="1"/>
          </p:cNvSpPr>
          <p:nvPr>
            <p:ph type="ftr" sz="quarter" idx="3"/>
          </p:nvPr>
        </p:nvSpPr>
        <p:spPr>
          <a:xfrm>
            <a:off x="812802" y="6248208"/>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1"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3397AD3-853C-40B4-8928-A891931DB425}" type="slidenum">
              <a:rPr lang="en-US" smtClean="0"/>
              <a:t>‹#›</a:t>
            </a:fld>
            <a:endParaRPr lang="en-US"/>
          </a:p>
        </p:txBody>
      </p:sp>
    </p:spTree>
    <p:extLst>
      <p:ext uri="{BB962C8B-B14F-4D97-AF65-F5344CB8AC3E}">
        <p14:creationId xmlns:p14="http://schemas.microsoft.com/office/powerpoint/2010/main" val="366939219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7" descr="image1.jpe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396877"/>
            <a:ext cx="12192000" cy="646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85753" y="71439"/>
            <a:ext cx="11620500" cy="725487"/>
          </a:xfrm>
          <a:prstGeom prst="rect">
            <a:avLst/>
          </a:prstGeom>
        </p:spPr>
        <p:txBody>
          <a:bodyPr vert="horz" wrap="square" lIns="91440" tIns="45720" rIns="91440" bIns="45720" numCol="1" anchor="ctr" anchorCtr="0" compatLnSpc="1">
            <a:prstTxWarp prst="textNoShape">
              <a:avLst/>
            </a:prstTxWarp>
            <a:normAutofit/>
          </a:bodyPr>
          <a:lstStyle/>
          <a:p>
            <a:pPr lvl="0"/>
            <a:r>
              <a:rPr lang="en-US"/>
              <a:t>Click to edit Master title style</a:t>
            </a:r>
          </a:p>
        </p:txBody>
      </p:sp>
      <p:sp>
        <p:nvSpPr>
          <p:cNvPr id="1028" name="Text Placeholder 2"/>
          <p:cNvSpPr>
            <a:spLocks noGrp="1"/>
          </p:cNvSpPr>
          <p:nvPr>
            <p:ph type="body" idx="1"/>
          </p:nvPr>
        </p:nvSpPr>
        <p:spPr bwMode="auto">
          <a:xfrm>
            <a:off x="285753" y="1000125"/>
            <a:ext cx="11620500"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010854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rtl="0" eaLnBrk="1" fontAlgn="base" hangingPunct="1">
        <a:spcBef>
          <a:spcPct val="0"/>
        </a:spcBef>
        <a:spcAft>
          <a:spcPct val="0"/>
        </a:spcAft>
        <a:defRPr sz="4400" b="1" kern="1200">
          <a:solidFill>
            <a:srgbClr val="FF9900"/>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4400" b="1">
          <a:solidFill>
            <a:srgbClr val="FF9900"/>
          </a:solidFill>
          <a:latin typeface="Calibri" pitchFamily="34" charset="0"/>
          <a:cs typeface="Times New Roman" pitchFamily="18" charset="0"/>
        </a:defRPr>
      </a:lvl2pPr>
      <a:lvl3pPr algn="l" rtl="0" eaLnBrk="1" fontAlgn="base" hangingPunct="1">
        <a:spcBef>
          <a:spcPct val="0"/>
        </a:spcBef>
        <a:spcAft>
          <a:spcPct val="0"/>
        </a:spcAft>
        <a:defRPr sz="4400" b="1">
          <a:solidFill>
            <a:srgbClr val="FF9900"/>
          </a:solidFill>
          <a:latin typeface="Calibri" pitchFamily="34" charset="0"/>
          <a:cs typeface="Times New Roman" pitchFamily="18" charset="0"/>
        </a:defRPr>
      </a:lvl3pPr>
      <a:lvl4pPr algn="l" rtl="0" eaLnBrk="1" fontAlgn="base" hangingPunct="1">
        <a:spcBef>
          <a:spcPct val="0"/>
        </a:spcBef>
        <a:spcAft>
          <a:spcPct val="0"/>
        </a:spcAft>
        <a:defRPr sz="4400" b="1">
          <a:solidFill>
            <a:srgbClr val="FF9900"/>
          </a:solidFill>
          <a:latin typeface="Calibri" pitchFamily="34" charset="0"/>
          <a:cs typeface="Times New Roman" pitchFamily="18" charset="0"/>
        </a:defRPr>
      </a:lvl4pPr>
      <a:lvl5pPr algn="l" rtl="0" eaLnBrk="1" fontAlgn="base" hangingPunct="1">
        <a:spcBef>
          <a:spcPct val="0"/>
        </a:spcBef>
        <a:spcAft>
          <a:spcPct val="0"/>
        </a:spcAft>
        <a:defRPr sz="4400" b="1">
          <a:solidFill>
            <a:srgbClr val="FF9900"/>
          </a:solidFill>
          <a:latin typeface="Calibri" pitchFamily="34" charset="0"/>
          <a:cs typeface="Times New Roman" pitchFamily="18" charset="0"/>
        </a:defRPr>
      </a:lvl5pPr>
      <a:lvl6pPr marL="457200" algn="l" rtl="0" eaLnBrk="1" fontAlgn="base" hangingPunct="1">
        <a:spcBef>
          <a:spcPct val="0"/>
        </a:spcBef>
        <a:spcAft>
          <a:spcPct val="0"/>
        </a:spcAft>
        <a:defRPr sz="4400" b="1">
          <a:solidFill>
            <a:srgbClr val="FF9900"/>
          </a:solidFill>
          <a:latin typeface="Calibri" pitchFamily="34" charset="0"/>
          <a:cs typeface="Times New Roman" pitchFamily="18" charset="0"/>
        </a:defRPr>
      </a:lvl6pPr>
      <a:lvl7pPr marL="914400" algn="l" rtl="0" eaLnBrk="1" fontAlgn="base" hangingPunct="1">
        <a:spcBef>
          <a:spcPct val="0"/>
        </a:spcBef>
        <a:spcAft>
          <a:spcPct val="0"/>
        </a:spcAft>
        <a:defRPr sz="4400" b="1">
          <a:solidFill>
            <a:srgbClr val="FF9900"/>
          </a:solidFill>
          <a:latin typeface="Calibri" pitchFamily="34" charset="0"/>
          <a:cs typeface="Times New Roman" pitchFamily="18" charset="0"/>
        </a:defRPr>
      </a:lvl7pPr>
      <a:lvl8pPr marL="1371600" algn="l" rtl="0" eaLnBrk="1" fontAlgn="base" hangingPunct="1">
        <a:spcBef>
          <a:spcPct val="0"/>
        </a:spcBef>
        <a:spcAft>
          <a:spcPct val="0"/>
        </a:spcAft>
        <a:defRPr sz="4400" b="1">
          <a:solidFill>
            <a:srgbClr val="FF9900"/>
          </a:solidFill>
          <a:latin typeface="Calibri" pitchFamily="34" charset="0"/>
          <a:cs typeface="Times New Roman" pitchFamily="18" charset="0"/>
        </a:defRPr>
      </a:lvl8pPr>
      <a:lvl9pPr marL="1828800" algn="l" rtl="0" eaLnBrk="1" fontAlgn="base" hangingPunct="1">
        <a:spcBef>
          <a:spcPct val="0"/>
        </a:spcBef>
        <a:spcAft>
          <a:spcPct val="0"/>
        </a:spcAft>
        <a:defRPr sz="4400" b="1">
          <a:solidFill>
            <a:srgbClr val="FF9900"/>
          </a:solidFill>
          <a:latin typeface="Calibri" pitchFamily="34" charset="0"/>
          <a:cs typeface="Times New Roman" pitchFamily="18" charset="0"/>
        </a:defRPr>
      </a:lvl9pPr>
    </p:titleStyle>
    <p:bodyStyle>
      <a:lvl1pPr marL="342900" indent="-342900" algn="l" rtl="0" eaLnBrk="1" fontAlgn="base" hangingPunct="1">
        <a:spcBef>
          <a:spcPct val="20000"/>
        </a:spcBef>
        <a:spcAft>
          <a:spcPct val="0"/>
        </a:spcAft>
        <a:buFont typeface="Arial" pitchFamily="34" charset="0"/>
        <a:buChar char="•"/>
        <a:defRPr sz="36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Single-page_applic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0700A-0D25-C5F3-ECBF-99AE14C1E139}"/>
              </a:ext>
            </a:extLst>
          </p:cNvPr>
          <p:cNvSpPr>
            <a:spLocks noGrp="1"/>
          </p:cNvSpPr>
          <p:nvPr>
            <p:ph type="ctrTitle"/>
          </p:nvPr>
        </p:nvSpPr>
        <p:spPr>
          <a:xfrm>
            <a:off x="3149600" y="4038600"/>
            <a:ext cx="8636000" cy="1828800"/>
          </a:xfrm>
        </p:spPr>
        <p:txBody>
          <a:bodyPr/>
          <a:lstStyle/>
          <a:p>
            <a:r>
              <a:rPr lang="en-US" dirty="0"/>
              <a:t>Blazor</a:t>
            </a:r>
          </a:p>
        </p:txBody>
      </p:sp>
      <p:sp>
        <p:nvSpPr>
          <p:cNvPr id="5" name="Subtitle 4">
            <a:extLst>
              <a:ext uri="{FF2B5EF4-FFF2-40B4-BE49-F238E27FC236}">
                <a16:creationId xmlns:a16="http://schemas.microsoft.com/office/drawing/2014/main" id="{BEC5227B-6D09-2520-298C-234D49161FC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010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data-driven web applications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lstStyle/>
          <a:p>
            <a:r>
              <a:rPr lang="en-US" dirty="0"/>
              <a:t>In order to develop a data-driven web application, we need two things. Server-side development as well as client-side development.</a:t>
            </a:r>
          </a:p>
          <a:p>
            <a:r>
              <a:rPr lang="en-US" dirty="0"/>
              <a:t>For server-side development, we generally use server-side programming languages such as C#, Java, PHP, etc. </a:t>
            </a:r>
          </a:p>
          <a:p>
            <a:r>
              <a:rPr lang="en-US" dirty="0"/>
              <a:t>For client-side development, we generally use JavaScript frameworks such as Angular, React, Vue, etc.</a:t>
            </a:r>
          </a:p>
          <a:p>
            <a:r>
              <a:rPr lang="en-US" dirty="0"/>
              <a:t> A Full-stack developer  need to learn a client-side programming language (such as Angular, React, Vue, etc.) as well as a server-side programming language (such as C#, Java, PHP, etc.).</a:t>
            </a:r>
          </a:p>
        </p:txBody>
      </p:sp>
    </p:spTree>
    <p:extLst>
      <p:ext uri="{BB962C8B-B14F-4D97-AF65-F5344CB8AC3E}">
        <p14:creationId xmlns:p14="http://schemas.microsoft.com/office/powerpoint/2010/main" val="88229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data-driven web applications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a:bodyPr>
          <a:lstStyle/>
          <a:p>
            <a:r>
              <a:rPr lang="en-US" dirty="0"/>
              <a:t>why should we learn 2 different sets of programming languages and frameworks.</a:t>
            </a:r>
          </a:p>
          <a:p>
            <a:r>
              <a:rPr lang="en-US" dirty="0"/>
              <a:t>Can we use C# both for server-side and client-side development?</a:t>
            </a:r>
          </a:p>
          <a:p>
            <a:r>
              <a:rPr lang="en-US" dirty="0"/>
              <a:t>Yes, we can use C# for both client-side as well as server-side development and this is possible because of ASP.NET Core Blazor.</a:t>
            </a:r>
          </a:p>
          <a:p>
            <a:r>
              <a:rPr lang="en-US" dirty="0"/>
              <a:t>With the introduction of Blazor, now you can develop client-side web user interfaces using C# instead of JavaScript. The C# code can be executed both on the server as well as in the client browser.</a:t>
            </a:r>
          </a:p>
          <a:p>
            <a:endParaRPr lang="en-US" dirty="0"/>
          </a:p>
          <a:p>
            <a:endParaRPr lang="en-US" dirty="0"/>
          </a:p>
        </p:txBody>
      </p:sp>
      <p:pic>
        <p:nvPicPr>
          <p:cNvPr id="2" name="Picture 1">
            <a:extLst>
              <a:ext uri="{FF2B5EF4-FFF2-40B4-BE49-F238E27FC236}">
                <a16:creationId xmlns:a16="http://schemas.microsoft.com/office/drawing/2014/main" id="{AEF651E0-E55C-5047-E715-6E36F547F537}"/>
              </a:ext>
            </a:extLst>
          </p:cNvPr>
          <p:cNvPicPr>
            <a:picLocks noChangeAspect="1"/>
          </p:cNvPicPr>
          <p:nvPr/>
        </p:nvPicPr>
        <p:blipFill>
          <a:blip r:embed="rId2"/>
          <a:stretch>
            <a:fillRect/>
          </a:stretch>
        </p:blipFill>
        <p:spPr>
          <a:xfrm>
            <a:off x="3437844" y="3966670"/>
            <a:ext cx="3757612" cy="2129330"/>
          </a:xfrm>
          <a:prstGeom prst="rect">
            <a:avLst/>
          </a:prstGeom>
        </p:spPr>
      </p:pic>
    </p:spTree>
    <p:extLst>
      <p:ext uri="{BB962C8B-B14F-4D97-AF65-F5344CB8AC3E}">
        <p14:creationId xmlns:p14="http://schemas.microsoft.com/office/powerpoint/2010/main" val="156267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What is Blazor</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77500" lnSpcReduction="20000"/>
          </a:bodyPr>
          <a:lstStyle/>
          <a:p>
            <a:r>
              <a:rPr lang="en-US" dirty="0"/>
              <a:t>Blazor is a web framework that allows you to build interactive web applications using C# and .NET, instead of JavaScript.</a:t>
            </a:r>
          </a:p>
          <a:p>
            <a:r>
              <a:rPr lang="en-US" dirty="0"/>
              <a:t>Blazor is a </a:t>
            </a:r>
            <a:r>
              <a:rPr lang="en-US" b="1" dirty="0"/>
              <a:t>modern front-end framework</a:t>
            </a:r>
            <a:r>
              <a:rPr lang="en-US" dirty="0"/>
              <a:t> from Microsoft built on </a:t>
            </a:r>
            <a:r>
              <a:rPr lang="en-US" b="1" dirty="0"/>
              <a:t>ASP.NET Core</a:t>
            </a:r>
            <a:r>
              <a:rPr lang="en-US" dirty="0"/>
              <a:t> that enables developers to create </a:t>
            </a:r>
            <a:r>
              <a:rPr lang="en-US" b="1" dirty="0"/>
              <a:t>interactive web UIs</a:t>
            </a:r>
            <a:r>
              <a:rPr lang="en-US" dirty="0"/>
              <a:t> using </a:t>
            </a:r>
            <a:r>
              <a:rPr lang="en-US" b="1" dirty="0"/>
              <a:t>C# instead of JavaScript</a:t>
            </a:r>
            <a:r>
              <a:rPr lang="en-US" dirty="0"/>
              <a:t>.</a:t>
            </a:r>
          </a:p>
          <a:p>
            <a:r>
              <a:rPr lang="en-US" dirty="0"/>
              <a:t>It bridges the gap between </a:t>
            </a:r>
            <a:r>
              <a:rPr lang="en-US" b="1" dirty="0"/>
              <a:t>client-side and server-side development</a:t>
            </a:r>
            <a:r>
              <a:rPr lang="en-US" dirty="0"/>
              <a:t>, allowing you to use </a:t>
            </a:r>
            <a:r>
              <a:rPr lang="en-US" b="1" dirty="0"/>
              <a:t>.NET and Razor syntax</a:t>
            </a:r>
            <a:r>
              <a:rPr lang="en-US" dirty="0"/>
              <a:t> to build full-stack web apps.</a:t>
            </a:r>
          </a:p>
          <a:p>
            <a:r>
              <a:rPr lang="en-US" dirty="0"/>
              <a:t>It’s part of the ASP.NET Core ecosystem, and its name comes from “Browser + Razor”.</a:t>
            </a:r>
          </a:p>
          <a:p>
            <a:r>
              <a:rPr lang="en-US" dirty="0"/>
              <a:t>Traditionally, front-end interactivity required JavaScript frameworks like React, Angular, or Vue.</a:t>
            </a:r>
            <a:br>
              <a:rPr lang="en-US" dirty="0"/>
            </a:br>
            <a:r>
              <a:rPr lang="en-US" dirty="0"/>
              <a:t>But with Blazor, you can write C# for both client and server</a:t>
            </a:r>
          </a:p>
          <a:p>
            <a:r>
              <a:rPr lang="en-US" dirty="0"/>
              <a:t>Blazor is a </a:t>
            </a:r>
            <a:r>
              <a:rPr lang="en-US" dirty="0">
                <a:hlinkClick r:id="rId2"/>
              </a:rPr>
              <a:t>Single Page Application</a:t>
            </a:r>
            <a:r>
              <a:rPr lang="en-US" dirty="0"/>
              <a:t> development framework. </a:t>
            </a:r>
          </a:p>
          <a:p>
            <a:r>
              <a:rPr lang="en-US" dirty="0"/>
              <a:t>Blazor is a .NET frontend web framework that supports both server-side rendering and client interactivity in a single programming model</a:t>
            </a:r>
          </a:p>
          <a:p>
            <a:endParaRPr lang="en-US" dirty="0"/>
          </a:p>
          <a:p>
            <a:endParaRPr lang="en-US" dirty="0"/>
          </a:p>
        </p:txBody>
      </p:sp>
    </p:spTree>
    <p:extLst>
      <p:ext uri="{BB962C8B-B14F-4D97-AF65-F5344CB8AC3E}">
        <p14:creationId xmlns:p14="http://schemas.microsoft.com/office/powerpoint/2010/main" val="2699025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Key Highlights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77500" lnSpcReduction="20000"/>
          </a:bodyPr>
          <a:lstStyle/>
          <a:p>
            <a:r>
              <a:rPr lang="en-US" dirty="0"/>
              <a:t>Built on ASP.NET Core platform.</a:t>
            </a:r>
          </a:p>
          <a:p>
            <a:r>
              <a:rPr lang="en-US" dirty="0"/>
              <a:t>Uses Razor syntax (mixing HTML + C#).</a:t>
            </a:r>
          </a:p>
          <a:p>
            <a:r>
              <a:rPr lang="en-US" dirty="0"/>
              <a:t>Supports both client-side and server-side rendering.</a:t>
            </a:r>
          </a:p>
          <a:p>
            <a:r>
              <a:rPr lang="en-US" dirty="0"/>
              <a:t>Allows component-based UI development (like React components).</a:t>
            </a:r>
          </a:p>
          <a:p>
            <a:r>
              <a:rPr lang="en-US" dirty="0"/>
              <a:t>Provides data binding, event handling, dependency injection, and routing and others.</a:t>
            </a:r>
          </a:p>
          <a:p>
            <a:r>
              <a:rPr lang="en-US" dirty="0"/>
              <a:t>Blazor also supports features of a SPA (Single Page Application) framework such as:</a:t>
            </a:r>
          </a:p>
          <a:p>
            <a:pPr lvl="1"/>
            <a:r>
              <a:rPr lang="en-US" dirty="0"/>
              <a:t>Routing</a:t>
            </a:r>
          </a:p>
          <a:p>
            <a:pPr lvl="1"/>
            <a:r>
              <a:rPr lang="en-US" dirty="0"/>
              <a:t>Layouts</a:t>
            </a:r>
          </a:p>
          <a:p>
            <a:pPr lvl="1"/>
            <a:r>
              <a:rPr lang="en-US" dirty="0"/>
              <a:t>Dependency Injection</a:t>
            </a:r>
          </a:p>
          <a:p>
            <a:pPr lvl="1"/>
            <a:r>
              <a:rPr lang="en-US" dirty="0"/>
              <a:t>JavaScript interop</a:t>
            </a:r>
          </a:p>
          <a:p>
            <a:pPr lvl="1"/>
            <a:r>
              <a:rPr lang="en-US" dirty="0"/>
              <a:t>Forms and validation</a:t>
            </a:r>
          </a:p>
          <a:p>
            <a:pPr lvl="1"/>
            <a:r>
              <a:rPr lang="en-US" dirty="0"/>
              <a:t>Server-side rendering</a:t>
            </a:r>
          </a:p>
        </p:txBody>
      </p:sp>
    </p:spTree>
    <p:extLst>
      <p:ext uri="{BB962C8B-B14F-4D97-AF65-F5344CB8AC3E}">
        <p14:creationId xmlns:p14="http://schemas.microsoft.com/office/powerpoint/2010/main" val="1155698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6920-1967-028C-38C4-893C731442C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B20D932-7022-1536-E909-4F3D9F31D765}"/>
              </a:ext>
            </a:extLst>
          </p:cNvPr>
          <p:cNvSpPr>
            <a:spLocks noGrp="1"/>
          </p:cNvSpPr>
          <p:nvPr>
            <p:ph type="title"/>
          </p:nvPr>
        </p:nvSpPr>
        <p:spPr>
          <a:xfrm>
            <a:off x="816864" y="228600"/>
            <a:ext cx="10871200" cy="990600"/>
          </a:xfrm>
        </p:spPr>
        <p:txBody>
          <a:bodyPr/>
          <a:lstStyle/>
          <a:p>
            <a:r>
              <a:rPr lang="en-US" dirty="0"/>
              <a:t>Blazor Key Features</a:t>
            </a:r>
          </a:p>
        </p:txBody>
      </p:sp>
      <p:graphicFrame>
        <p:nvGraphicFramePr>
          <p:cNvPr id="2" name="Content Placeholder 1">
            <a:extLst>
              <a:ext uri="{FF2B5EF4-FFF2-40B4-BE49-F238E27FC236}">
                <a16:creationId xmlns:a16="http://schemas.microsoft.com/office/drawing/2014/main" id="{188843CF-079A-51F4-CBDF-B8F8190F1569}"/>
              </a:ext>
            </a:extLst>
          </p:cNvPr>
          <p:cNvGraphicFramePr>
            <a:graphicFrameLocks noGrp="1"/>
          </p:cNvGraphicFramePr>
          <p:nvPr>
            <p:ph sz="quarter" idx="1"/>
            <p:extLst>
              <p:ext uri="{D42A27DB-BD31-4B8C-83A1-F6EECF244321}">
                <p14:modId xmlns:p14="http://schemas.microsoft.com/office/powerpoint/2010/main" val="708917276"/>
              </p:ext>
            </p:extLst>
          </p:nvPr>
        </p:nvGraphicFramePr>
        <p:xfrm>
          <a:off x="523649" y="1680029"/>
          <a:ext cx="10871200" cy="2219960"/>
        </p:xfrm>
        <a:graphic>
          <a:graphicData uri="http://schemas.openxmlformats.org/drawingml/2006/table">
            <a:tbl>
              <a:tblPr firstRow="1" bandRow="1">
                <a:tableStyleId>{5C22544A-7EE6-4342-B048-85BDC9FD1C3A}</a:tableStyleId>
              </a:tblPr>
              <a:tblGrid>
                <a:gridCol w="5435600">
                  <a:extLst>
                    <a:ext uri="{9D8B030D-6E8A-4147-A177-3AD203B41FA5}">
                      <a16:colId xmlns:a16="http://schemas.microsoft.com/office/drawing/2014/main" val="1374998301"/>
                    </a:ext>
                  </a:extLst>
                </a:gridCol>
                <a:gridCol w="5435600">
                  <a:extLst>
                    <a:ext uri="{9D8B030D-6E8A-4147-A177-3AD203B41FA5}">
                      <a16:colId xmlns:a16="http://schemas.microsoft.com/office/drawing/2014/main" val="535479017"/>
                    </a:ext>
                  </a:extLst>
                </a:gridCol>
              </a:tblGrid>
              <a:tr h="0">
                <a:tc>
                  <a:txBody>
                    <a:bodyPr/>
                    <a:lstStyle/>
                    <a:p>
                      <a:pPr>
                        <a:buNone/>
                      </a:pPr>
                      <a:r>
                        <a:rPr lang="en-US" dirty="0"/>
                        <a:t>Feature</a:t>
                      </a:r>
                    </a:p>
                  </a:txBody>
                  <a:tcPr anchor="ctr"/>
                </a:tc>
                <a:tc>
                  <a:txBody>
                    <a:bodyPr/>
                    <a:lstStyle/>
                    <a:p>
                      <a:pPr>
                        <a:buNone/>
                      </a:pPr>
                      <a:r>
                        <a:rPr lang="en-US"/>
                        <a:t>Description</a:t>
                      </a:r>
                    </a:p>
                  </a:txBody>
                  <a:tcPr anchor="ctr"/>
                </a:tc>
                <a:extLst>
                  <a:ext uri="{0D108BD9-81ED-4DB2-BD59-A6C34878D82A}">
                    <a16:rowId xmlns:a16="http://schemas.microsoft.com/office/drawing/2014/main" val="4122997041"/>
                  </a:ext>
                </a:extLst>
              </a:tr>
              <a:tr h="370840">
                <a:tc>
                  <a:txBody>
                    <a:bodyPr/>
                    <a:lstStyle/>
                    <a:p>
                      <a:pPr>
                        <a:buNone/>
                      </a:pPr>
                      <a:r>
                        <a:rPr lang="en-US" b="1"/>
                        <a:t>C# instead of JavaScript</a:t>
                      </a:r>
                      <a:endParaRPr lang="en-US"/>
                    </a:p>
                  </a:txBody>
                  <a:tcPr anchor="ctr"/>
                </a:tc>
                <a:tc>
                  <a:txBody>
                    <a:bodyPr/>
                    <a:lstStyle/>
                    <a:p>
                      <a:pPr>
                        <a:buNone/>
                      </a:pPr>
                      <a:r>
                        <a:rPr lang="en-US"/>
                        <a:t>Write both frontend and backend logic in C#.</a:t>
                      </a:r>
                    </a:p>
                  </a:txBody>
                  <a:tcPr anchor="ctr"/>
                </a:tc>
                <a:extLst>
                  <a:ext uri="{0D108BD9-81ED-4DB2-BD59-A6C34878D82A}">
                    <a16:rowId xmlns:a16="http://schemas.microsoft.com/office/drawing/2014/main" val="2479858863"/>
                  </a:ext>
                </a:extLst>
              </a:tr>
              <a:tr h="370840">
                <a:tc>
                  <a:txBody>
                    <a:bodyPr/>
                    <a:lstStyle/>
                    <a:p>
                      <a:pPr>
                        <a:buNone/>
                      </a:pPr>
                      <a:r>
                        <a:rPr lang="en-US" b="1"/>
                        <a:t>Component-based architecture</a:t>
                      </a:r>
                      <a:endParaRPr lang="en-US"/>
                    </a:p>
                  </a:txBody>
                  <a:tcPr anchor="ctr"/>
                </a:tc>
                <a:tc>
                  <a:txBody>
                    <a:bodyPr/>
                    <a:lstStyle/>
                    <a:p>
                      <a:pPr>
                        <a:buNone/>
                      </a:pPr>
                      <a:r>
                        <a:rPr lang="en-US"/>
                        <a:t>UI is made up of reusable Razor components.</a:t>
                      </a:r>
                    </a:p>
                  </a:txBody>
                  <a:tcPr anchor="ctr"/>
                </a:tc>
                <a:extLst>
                  <a:ext uri="{0D108BD9-81ED-4DB2-BD59-A6C34878D82A}">
                    <a16:rowId xmlns:a16="http://schemas.microsoft.com/office/drawing/2014/main" val="2010002440"/>
                  </a:ext>
                </a:extLst>
              </a:tr>
              <a:tr h="370840">
                <a:tc>
                  <a:txBody>
                    <a:bodyPr/>
                    <a:lstStyle/>
                    <a:p>
                      <a:pPr>
                        <a:buNone/>
                      </a:pPr>
                      <a:r>
                        <a:rPr lang="en-US" b="1"/>
                        <a:t>Full .NET runtime in browser</a:t>
                      </a:r>
                      <a:endParaRPr lang="en-US"/>
                    </a:p>
                  </a:txBody>
                  <a:tcPr anchor="ctr"/>
                </a:tc>
                <a:tc>
                  <a:txBody>
                    <a:bodyPr/>
                    <a:lstStyle/>
                    <a:p>
                      <a:pPr>
                        <a:buNone/>
                      </a:pPr>
                      <a:r>
                        <a:rPr lang="en-US"/>
                        <a:t>Thanks to WebAssembly (WASM).</a:t>
                      </a:r>
                    </a:p>
                  </a:txBody>
                  <a:tcPr anchor="ctr"/>
                </a:tc>
                <a:extLst>
                  <a:ext uri="{0D108BD9-81ED-4DB2-BD59-A6C34878D82A}">
                    <a16:rowId xmlns:a16="http://schemas.microsoft.com/office/drawing/2014/main" val="938923192"/>
                  </a:ext>
                </a:extLst>
              </a:tr>
              <a:tr h="370840">
                <a:tc>
                  <a:txBody>
                    <a:bodyPr/>
                    <a:lstStyle/>
                    <a:p>
                      <a:pPr>
                        <a:buNone/>
                      </a:pPr>
                      <a:r>
                        <a:rPr lang="en-US" b="1"/>
                        <a:t>Cross-platform</a:t>
                      </a:r>
                      <a:endParaRPr lang="en-US"/>
                    </a:p>
                  </a:txBody>
                  <a:tcPr anchor="ctr"/>
                </a:tc>
                <a:tc>
                  <a:txBody>
                    <a:bodyPr/>
                    <a:lstStyle/>
                    <a:p>
                      <a:pPr>
                        <a:buNone/>
                      </a:pPr>
                      <a:r>
                        <a:rPr lang="en-US"/>
                        <a:t>Works on Windows, Linux, macOS, or even in browsers.</a:t>
                      </a:r>
                    </a:p>
                  </a:txBody>
                  <a:tcPr anchor="ctr"/>
                </a:tc>
                <a:extLst>
                  <a:ext uri="{0D108BD9-81ED-4DB2-BD59-A6C34878D82A}">
                    <a16:rowId xmlns:a16="http://schemas.microsoft.com/office/drawing/2014/main" val="2072408460"/>
                  </a:ext>
                </a:extLst>
              </a:tr>
              <a:tr h="370840">
                <a:tc>
                  <a:txBody>
                    <a:bodyPr/>
                    <a:lstStyle/>
                    <a:p>
                      <a:pPr>
                        <a:buNone/>
                      </a:pPr>
                      <a:r>
                        <a:rPr lang="en-US" b="1"/>
                        <a:t>Integrated with ASP.NET Core</a:t>
                      </a:r>
                      <a:endParaRPr lang="en-US"/>
                    </a:p>
                  </a:txBody>
                  <a:tcPr anchor="ctr"/>
                </a:tc>
                <a:tc>
                  <a:txBody>
                    <a:bodyPr/>
                    <a:lstStyle/>
                    <a:p>
                      <a:pPr>
                        <a:buNone/>
                      </a:pPr>
                      <a:r>
                        <a:rPr lang="en-US" dirty="0"/>
                        <a:t>Built into the same ecosystem.</a:t>
                      </a:r>
                    </a:p>
                  </a:txBody>
                  <a:tcPr anchor="ctr"/>
                </a:tc>
                <a:extLst>
                  <a:ext uri="{0D108BD9-81ED-4DB2-BD59-A6C34878D82A}">
                    <a16:rowId xmlns:a16="http://schemas.microsoft.com/office/drawing/2014/main" val="3803195390"/>
                  </a:ext>
                </a:extLst>
              </a:tr>
            </a:tbl>
          </a:graphicData>
        </a:graphic>
      </p:graphicFrame>
    </p:spTree>
    <p:extLst>
      <p:ext uri="{BB962C8B-B14F-4D97-AF65-F5344CB8AC3E}">
        <p14:creationId xmlns:p14="http://schemas.microsoft.com/office/powerpoint/2010/main" val="387994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533F-D8B5-1805-8A11-E284844B3D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5449C8-9FBD-0B84-8A9F-1887135A8149}"/>
              </a:ext>
            </a:extLst>
          </p:cNvPr>
          <p:cNvSpPr>
            <a:spLocks noGrp="1"/>
          </p:cNvSpPr>
          <p:nvPr>
            <p:ph type="title"/>
          </p:nvPr>
        </p:nvSpPr>
        <p:spPr>
          <a:xfrm>
            <a:off x="816864" y="228600"/>
            <a:ext cx="10871200" cy="990600"/>
          </a:xfrm>
        </p:spPr>
        <p:txBody>
          <a:bodyPr/>
          <a:lstStyle/>
          <a:p>
            <a:r>
              <a:rPr lang="en-US" dirty="0"/>
              <a:t>Blazor Key Concepts</a:t>
            </a:r>
          </a:p>
        </p:txBody>
      </p:sp>
      <p:graphicFrame>
        <p:nvGraphicFramePr>
          <p:cNvPr id="5" name="Content Placeholder 4">
            <a:extLst>
              <a:ext uri="{FF2B5EF4-FFF2-40B4-BE49-F238E27FC236}">
                <a16:creationId xmlns:a16="http://schemas.microsoft.com/office/drawing/2014/main" id="{250A4CD8-F203-A311-0531-D0670EF100CD}"/>
              </a:ext>
            </a:extLst>
          </p:cNvPr>
          <p:cNvGraphicFramePr>
            <a:graphicFrameLocks noGrp="1"/>
          </p:cNvGraphicFramePr>
          <p:nvPr>
            <p:ph sz="quarter" idx="1"/>
            <p:extLst>
              <p:ext uri="{D42A27DB-BD31-4B8C-83A1-F6EECF244321}">
                <p14:modId xmlns:p14="http://schemas.microsoft.com/office/powerpoint/2010/main" val="326864114"/>
              </p:ext>
            </p:extLst>
          </p:nvPr>
        </p:nvGraphicFramePr>
        <p:xfrm>
          <a:off x="327705" y="1861820"/>
          <a:ext cx="10871200" cy="3134360"/>
        </p:xfrm>
        <a:graphic>
          <a:graphicData uri="http://schemas.openxmlformats.org/drawingml/2006/table">
            <a:tbl>
              <a:tblPr firstRow="1" bandRow="1">
                <a:tableStyleId>{5C22544A-7EE6-4342-B048-85BDC9FD1C3A}</a:tableStyleId>
              </a:tblPr>
              <a:tblGrid>
                <a:gridCol w="5435600">
                  <a:extLst>
                    <a:ext uri="{9D8B030D-6E8A-4147-A177-3AD203B41FA5}">
                      <a16:colId xmlns:a16="http://schemas.microsoft.com/office/drawing/2014/main" val="1532705568"/>
                    </a:ext>
                  </a:extLst>
                </a:gridCol>
                <a:gridCol w="5435600">
                  <a:extLst>
                    <a:ext uri="{9D8B030D-6E8A-4147-A177-3AD203B41FA5}">
                      <a16:colId xmlns:a16="http://schemas.microsoft.com/office/drawing/2014/main" val="1621268582"/>
                    </a:ext>
                  </a:extLst>
                </a:gridCol>
              </a:tblGrid>
              <a:tr h="370840">
                <a:tc>
                  <a:txBody>
                    <a:bodyPr/>
                    <a:lstStyle/>
                    <a:p>
                      <a:pPr>
                        <a:buNone/>
                      </a:pPr>
                      <a:r>
                        <a:rPr lang="en-US" dirty="0"/>
                        <a:t>Concept</a:t>
                      </a:r>
                    </a:p>
                  </a:txBody>
                  <a:tcPr anchor="ctr"/>
                </a:tc>
                <a:tc>
                  <a:txBody>
                    <a:bodyPr/>
                    <a:lstStyle/>
                    <a:p>
                      <a:pPr>
                        <a:buNone/>
                      </a:pPr>
                      <a:r>
                        <a:rPr lang="en-US"/>
                        <a:t>Description</a:t>
                      </a:r>
                    </a:p>
                  </a:txBody>
                  <a:tcPr anchor="ctr"/>
                </a:tc>
                <a:extLst>
                  <a:ext uri="{0D108BD9-81ED-4DB2-BD59-A6C34878D82A}">
                    <a16:rowId xmlns:a16="http://schemas.microsoft.com/office/drawing/2014/main" val="120834919"/>
                  </a:ext>
                </a:extLst>
              </a:tr>
              <a:tr h="370840">
                <a:tc>
                  <a:txBody>
                    <a:bodyPr/>
                    <a:lstStyle/>
                    <a:p>
                      <a:pPr>
                        <a:buNone/>
                      </a:pPr>
                      <a:r>
                        <a:rPr lang="en-US" b="1"/>
                        <a:t>Component</a:t>
                      </a:r>
                      <a:endParaRPr lang="en-US"/>
                    </a:p>
                  </a:txBody>
                  <a:tcPr anchor="ctr"/>
                </a:tc>
                <a:tc>
                  <a:txBody>
                    <a:bodyPr/>
                    <a:lstStyle/>
                    <a:p>
                      <a:pPr>
                        <a:buNone/>
                      </a:pPr>
                      <a:r>
                        <a:rPr lang="en-US"/>
                        <a:t>Reusable unit of UI (written in Razor).</a:t>
                      </a:r>
                    </a:p>
                  </a:txBody>
                  <a:tcPr anchor="ctr"/>
                </a:tc>
                <a:extLst>
                  <a:ext uri="{0D108BD9-81ED-4DB2-BD59-A6C34878D82A}">
                    <a16:rowId xmlns:a16="http://schemas.microsoft.com/office/drawing/2014/main" val="3103536144"/>
                  </a:ext>
                </a:extLst>
              </a:tr>
              <a:tr h="370840">
                <a:tc>
                  <a:txBody>
                    <a:bodyPr/>
                    <a:lstStyle/>
                    <a:p>
                      <a:pPr>
                        <a:buNone/>
                      </a:pPr>
                      <a:r>
                        <a:rPr lang="en-US" b="1"/>
                        <a:t>Razor Syntax</a:t>
                      </a:r>
                      <a:endParaRPr lang="en-US"/>
                    </a:p>
                  </a:txBody>
                  <a:tcPr anchor="ctr"/>
                </a:tc>
                <a:tc>
                  <a:txBody>
                    <a:bodyPr/>
                    <a:lstStyle/>
                    <a:p>
                      <a:pPr>
                        <a:buNone/>
                      </a:pPr>
                      <a:r>
                        <a:rPr lang="en-US"/>
                        <a:t>Combines HTML + C# code in </a:t>
                      </a:r>
                      <a:r>
                        <a:rPr lang="en-US">
                          <a:latin typeface="Courier New" panose="02070309020205020404" pitchFamily="49" charset="0"/>
                        </a:rPr>
                        <a:t>.razor</a:t>
                      </a:r>
                      <a:r>
                        <a:rPr lang="en-US"/>
                        <a:t> or </a:t>
                      </a:r>
                      <a:r>
                        <a:rPr lang="en-US">
                          <a:latin typeface="Courier New" panose="02070309020205020404" pitchFamily="49" charset="0"/>
                        </a:rPr>
                        <a:t>.cshtml</a:t>
                      </a:r>
                      <a:r>
                        <a:rPr lang="en-US"/>
                        <a:t> files.</a:t>
                      </a:r>
                    </a:p>
                  </a:txBody>
                  <a:tcPr anchor="ctr"/>
                </a:tc>
                <a:extLst>
                  <a:ext uri="{0D108BD9-81ED-4DB2-BD59-A6C34878D82A}">
                    <a16:rowId xmlns:a16="http://schemas.microsoft.com/office/drawing/2014/main" val="3238066940"/>
                  </a:ext>
                </a:extLst>
              </a:tr>
              <a:tr h="370840">
                <a:tc>
                  <a:txBody>
                    <a:bodyPr/>
                    <a:lstStyle/>
                    <a:p>
                      <a:pPr>
                        <a:buNone/>
                      </a:pPr>
                      <a:r>
                        <a:rPr lang="en-US" b="1"/>
                        <a:t>Binding</a:t>
                      </a:r>
                      <a:endParaRPr lang="en-US"/>
                    </a:p>
                  </a:txBody>
                  <a:tcPr anchor="ctr"/>
                </a:tc>
                <a:tc>
                  <a:txBody>
                    <a:bodyPr/>
                    <a:lstStyle/>
                    <a:p>
                      <a:pPr>
                        <a:buNone/>
                      </a:pPr>
                      <a:r>
                        <a:rPr lang="en-US"/>
                        <a:t>Synchronizes UI and data automatically.</a:t>
                      </a:r>
                    </a:p>
                  </a:txBody>
                  <a:tcPr anchor="ctr"/>
                </a:tc>
                <a:extLst>
                  <a:ext uri="{0D108BD9-81ED-4DB2-BD59-A6C34878D82A}">
                    <a16:rowId xmlns:a16="http://schemas.microsoft.com/office/drawing/2014/main" val="2185456606"/>
                  </a:ext>
                </a:extLst>
              </a:tr>
              <a:tr h="370840">
                <a:tc>
                  <a:txBody>
                    <a:bodyPr/>
                    <a:lstStyle/>
                    <a:p>
                      <a:pPr>
                        <a:buNone/>
                      </a:pPr>
                      <a:r>
                        <a:rPr lang="en-US" b="1"/>
                        <a:t>Event Handling</a:t>
                      </a:r>
                      <a:endParaRPr lang="en-US"/>
                    </a:p>
                  </a:txBody>
                  <a:tcPr anchor="ctr"/>
                </a:tc>
                <a:tc>
                  <a:txBody>
                    <a:bodyPr/>
                    <a:lstStyle/>
                    <a:p>
                      <a:pPr>
                        <a:buNone/>
                      </a:pPr>
                      <a:r>
                        <a:rPr lang="en-US"/>
                        <a:t>Handles UI events like </a:t>
                      </a:r>
                      <a:r>
                        <a:rPr lang="en-US">
                          <a:latin typeface="Courier New" panose="02070309020205020404" pitchFamily="49" charset="0"/>
                        </a:rPr>
                        <a:t>@onclick</a:t>
                      </a:r>
                      <a:r>
                        <a:rPr lang="en-US"/>
                        <a:t>, </a:t>
                      </a:r>
                      <a:r>
                        <a:rPr lang="en-US">
                          <a:latin typeface="Courier New" panose="02070309020205020404" pitchFamily="49" charset="0"/>
                        </a:rPr>
                        <a:t>@onchange</a:t>
                      </a:r>
                      <a:r>
                        <a:rPr lang="en-US"/>
                        <a:t> directly in C#.</a:t>
                      </a:r>
                    </a:p>
                  </a:txBody>
                  <a:tcPr anchor="ctr"/>
                </a:tc>
                <a:extLst>
                  <a:ext uri="{0D108BD9-81ED-4DB2-BD59-A6C34878D82A}">
                    <a16:rowId xmlns:a16="http://schemas.microsoft.com/office/drawing/2014/main" val="970259733"/>
                  </a:ext>
                </a:extLst>
              </a:tr>
              <a:tr h="370840">
                <a:tc>
                  <a:txBody>
                    <a:bodyPr/>
                    <a:lstStyle/>
                    <a:p>
                      <a:pPr>
                        <a:buNone/>
                      </a:pPr>
                      <a:r>
                        <a:rPr lang="en-US" b="1"/>
                        <a:t>Routing</a:t>
                      </a:r>
                      <a:endParaRPr lang="en-US"/>
                    </a:p>
                  </a:txBody>
                  <a:tcPr anchor="ctr"/>
                </a:tc>
                <a:tc>
                  <a:txBody>
                    <a:bodyPr/>
                    <a:lstStyle/>
                    <a:p>
                      <a:pPr>
                        <a:buNone/>
                      </a:pPr>
                      <a:r>
                        <a:rPr lang="en-US"/>
                        <a:t>Uses </a:t>
                      </a:r>
                      <a:r>
                        <a:rPr lang="en-US">
                          <a:latin typeface="Courier New" panose="02070309020205020404" pitchFamily="49" charset="0"/>
                        </a:rPr>
                        <a:t>@page</a:t>
                      </a:r>
                      <a:r>
                        <a:rPr lang="en-US"/>
                        <a:t> directive to navigate between components.</a:t>
                      </a:r>
                    </a:p>
                  </a:txBody>
                  <a:tcPr anchor="ctr"/>
                </a:tc>
                <a:extLst>
                  <a:ext uri="{0D108BD9-81ED-4DB2-BD59-A6C34878D82A}">
                    <a16:rowId xmlns:a16="http://schemas.microsoft.com/office/drawing/2014/main" val="934109881"/>
                  </a:ext>
                </a:extLst>
              </a:tr>
              <a:tr h="370840">
                <a:tc>
                  <a:txBody>
                    <a:bodyPr/>
                    <a:lstStyle/>
                    <a:p>
                      <a:pPr>
                        <a:buNone/>
                      </a:pPr>
                      <a:r>
                        <a:rPr lang="en-US" b="1"/>
                        <a:t>Dependency Injection (DI)</a:t>
                      </a:r>
                      <a:endParaRPr lang="en-US"/>
                    </a:p>
                  </a:txBody>
                  <a:tcPr anchor="ctr"/>
                </a:tc>
                <a:tc>
                  <a:txBody>
                    <a:bodyPr/>
                    <a:lstStyle/>
                    <a:p>
                      <a:pPr>
                        <a:buNone/>
                      </a:pPr>
                      <a:r>
                        <a:rPr lang="en-US" dirty="0"/>
                        <a:t>Built-in support for injecting services into components.</a:t>
                      </a:r>
                    </a:p>
                  </a:txBody>
                  <a:tcPr anchor="ctr"/>
                </a:tc>
                <a:extLst>
                  <a:ext uri="{0D108BD9-81ED-4DB2-BD59-A6C34878D82A}">
                    <a16:rowId xmlns:a16="http://schemas.microsoft.com/office/drawing/2014/main" val="3265586243"/>
                  </a:ext>
                </a:extLst>
              </a:tr>
            </a:tbl>
          </a:graphicData>
        </a:graphic>
      </p:graphicFrame>
    </p:spTree>
    <p:extLst>
      <p:ext uri="{BB962C8B-B14F-4D97-AF65-F5344CB8AC3E}">
        <p14:creationId xmlns:p14="http://schemas.microsoft.com/office/powerpoint/2010/main" val="3868936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Hosting Models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a:bodyPr>
          <a:lstStyle/>
          <a:p>
            <a:r>
              <a:rPr lang="en-US" dirty="0"/>
              <a:t>Blazor offers following hosting models. </a:t>
            </a:r>
          </a:p>
          <a:p>
            <a:pPr lvl="1"/>
            <a:r>
              <a:rPr lang="en-US" dirty="0"/>
              <a:t>Blazor Server</a:t>
            </a:r>
          </a:p>
          <a:p>
            <a:pPr lvl="1"/>
            <a:r>
              <a:rPr lang="en-US" dirty="0"/>
              <a:t>Blazor WebAssembly (WASM) </a:t>
            </a:r>
          </a:p>
          <a:p>
            <a:pPr lvl="1"/>
            <a:r>
              <a:rPr lang="en-US" dirty="0"/>
              <a:t>Blazor Hybrid</a:t>
            </a:r>
          </a:p>
          <a:p>
            <a:pPr lvl="1"/>
            <a:endParaRPr lang="en-US" dirty="0"/>
          </a:p>
        </p:txBody>
      </p:sp>
      <p:graphicFrame>
        <p:nvGraphicFramePr>
          <p:cNvPr id="3" name="Table 2">
            <a:extLst>
              <a:ext uri="{FF2B5EF4-FFF2-40B4-BE49-F238E27FC236}">
                <a16:creationId xmlns:a16="http://schemas.microsoft.com/office/drawing/2014/main" id="{3D46EE92-AB65-0C30-2FEE-493CFF8D10B4}"/>
              </a:ext>
            </a:extLst>
          </p:cNvPr>
          <p:cNvGraphicFramePr>
            <a:graphicFrameLocks noGrp="1"/>
          </p:cNvGraphicFramePr>
          <p:nvPr>
            <p:extLst>
              <p:ext uri="{D42A27DB-BD31-4B8C-83A1-F6EECF244321}">
                <p14:modId xmlns:p14="http://schemas.microsoft.com/office/powerpoint/2010/main" val="1930138979"/>
              </p:ext>
            </p:extLst>
          </p:nvPr>
        </p:nvGraphicFramePr>
        <p:xfrm>
          <a:off x="816864" y="3593495"/>
          <a:ext cx="10871200" cy="1483360"/>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2482834225"/>
                    </a:ext>
                  </a:extLst>
                </a:gridCol>
                <a:gridCol w="2717800">
                  <a:extLst>
                    <a:ext uri="{9D8B030D-6E8A-4147-A177-3AD203B41FA5}">
                      <a16:colId xmlns:a16="http://schemas.microsoft.com/office/drawing/2014/main" val="3127725511"/>
                    </a:ext>
                  </a:extLst>
                </a:gridCol>
                <a:gridCol w="2717800">
                  <a:extLst>
                    <a:ext uri="{9D8B030D-6E8A-4147-A177-3AD203B41FA5}">
                      <a16:colId xmlns:a16="http://schemas.microsoft.com/office/drawing/2014/main" val="3640462371"/>
                    </a:ext>
                  </a:extLst>
                </a:gridCol>
                <a:gridCol w="2717800">
                  <a:extLst>
                    <a:ext uri="{9D8B030D-6E8A-4147-A177-3AD203B41FA5}">
                      <a16:colId xmlns:a16="http://schemas.microsoft.com/office/drawing/2014/main" val="33649889"/>
                    </a:ext>
                  </a:extLst>
                </a:gridCol>
              </a:tblGrid>
              <a:tr h="370840">
                <a:tc>
                  <a:txBody>
                    <a:bodyPr/>
                    <a:lstStyle/>
                    <a:p>
                      <a:pPr>
                        <a:buNone/>
                      </a:pPr>
                      <a:r>
                        <a:rPr lang="en-US" dirty="0"/>
                        <a:t>Model</a:t>
                      </a:r>
                    </a:p>
                  </a:txBody>
                  <a:tcPr anchor="ctr"/>
                </a:tc>
                <a:tc>
                  <a:txBody>
                    <a:bodyPr/>
                    <a:lstStyle/>
                    <a:p>
                      <a:pPr>
                        <a:buNone/>
                      </a:pPr>
                      <a:r>
                        <a:rPr lang="en-US"/>
                        <a:t>Runs On</a:t>
                      </a:r>
                    </a:p>
                  </a:txBody>
                  <a:tcPr anchor="ctr"/>
                </a:tc>
                <a:tc>
                  <a:txBody>
                    <a:bodyPr/>
                    <a:lstStyle/>
                    <a:p>
                      <a:pPr>
                        <a:buNone/>
                      </a:pPr>
                      <a:r>
                        <a:rPr lang="en-US"/>
                        <a:t>Communication</a:t>
                      </a:r>
                    </a:p>
                  </a:txBody>
                  <a:tcPr anchor="ctr"/>
                </a:tc>
                <a:tc>
                  <a:txBody>
                    <a:bodyPr/>
                    <a:lstStyle/>
                    <a:p>
                      <a:pPr>
                        <a:buNone/>
                      </a:pPr>
                      <a:r>
                        <a:rPr lang="en-US"/>
                        <a:t>Use Case</a:t>
                      </a:r>
                    </a:p>
                  </a:txBody>
                  <a:tcPr anchor="ctr"/>
                </a:tc>
                <a:extLst>
                  <a:ext uri="{0D108BD9-81ED-4DB2-BD59-A6C34878D82A}">
                    <a16:rowId xmlns:a16="http://schemas.microsoft.com/office/drawing/2014/main" val="1197777039"/>
                  </a:ext>
                </a:extLst>
              </a:tr>
              <a:tr h="370840">
                <a:tc>
                  <a:txBody>
                    <a:bodyPr/>
                    <a:lstStyle/>
                    <a:p>
                      <a:pPr>
                        <a:buNone/>
                      </a:pPr>
                      <a:r>
                        <a:rPr lang="en-US" b="1"/>
                        <a:t>Blazor Server</a:t>
                      </a:r>
                      <a:endParaRPr lang="en-US"/>
                    </a:p>
                  </a:txBody>
                  <a:tcPr anchor="ctr"/>
                </a:tc>
                <a:tc>
                  <a:txBody>
                    <a:bodyPr/>
                    <a:lstStyle/>
                    <a:p>
                      <a:pPr>
                        <a:buNone/>
                      </a:pPr>
                      <a:r>
                        <a:rPr lang="en-US"/>
                        <a:t>Server</a:t>
                      </a:r>
                    </a:p>
                  </a:txBody>
                  <a:tcPr anchor="ctr"/>
                </a:tc>
                <a:tc>
                  <a:txBody>
                    <a:bodyPr/>
                    <a:lstStyle/>
                    <a:p>
                      <a:pPr>
                        <a:buNone/>
                      </a:pPr>
                      <a:r>
                        <a:rPr lang="en-US"/>
                        <a:t>SignalR</a:t>
                      </a:r>
                    </a:p>
                  </a:txBody>
                  <a:tcPr anchor="ctr"/>
                </a:tc>
                <a:tc>
                  <a:txBody>
                    <a:bodyPr/>
                    <a:lstStyle/>
                    <a:p>
                      <a:pPr>
                        <a:buNone/>
                      </a:pPr>
                      <a:r>
                        <a:rPr lang="en-US"/>
                        <a:t>Internal/enterprise apps</a:t>
                      </a:r>
                    </a:p>
                  </a:txBody>
                  <a:tcPr anchor="ctr"/>
                </a:tc>
                <a:extLst>
                  <a:ext uri="{0D108BD9-81ED-4DB2-BD59-A6C34878D82A}">
                    <a16:rowId xmlns:a16="http://schemas.microsoft.com/office/drawing/2014/main" val="4233928328"/>
                  </a:ext>
                </a:extLst>
              </a:tr>
              <a:tr h="370840">
                <a:tc>
                  <a:txBody>
                    <a:bodyPr/>
                    <a:lstStyle/>
                    <a:p>
                      <a:pPr>
                        <a:buNone/>
                      </a:pPr>
                      <a:r>
                        <a:rPr lang="en-US" b="1"/>
                        <a:t>Blazor WebAssembly</a:t>
                      </a:r>
                      <a:endParaRPr lang="en-US"/>
                    </a:p>
                  </a:txBody>
                  <a:tcPr anchor="ctr"/>
                </a:tc>
                <a:tc>
                  <a:txBody>
                    <a:bodyPr/>
                    <a:lstStyle/>
                    <a:p>
                      <a:pPr>
                        <a:buNone/>
                      </a:pPr>
                      <a:r>
                        <a:rPr lang="en-US"/>
                        <a:t>Browser</a:t>
                      </a:r>
                    </a:p>
                  </a:txBody>
                  <a:tcPr anchor="ctr"/>
                </a:tc>
                <a:tc>
                  <a:txBody>
                    <a:bodyPr/>
                    <a:lstStyle/>
                    <a:p>
                      <a:pPr>
                        <a:buNone/>
                      </a:pPr>
                      <a:r>
                        <a:rPr lang="en-US"/>
                        <a:t>Direct (no server)</a:t>
                      </a:r>
                    </a:p>
                  </a:txBody>
                  <a:tcPr anchor="ctr"/>
                </a:tc>
                <a:tc>
                  <a:txBody>
                    <a:bodyPr/>
                    <a:lstStyle/>
                    <a:p>
                      <a:pPr>
                        <a:buNone/>
                      </a:pPr>
                      <a:r>
                        <a:rPr lang="en-US"/>
                        <a:t>Public/client apps</a:t>
                      </a:r>
                    </a:p>
                  </a:txBody>
                  <a:tcPr anchor="ctr"/>
                </a:tc>
                <a:extLst>
                  <a:ext uri="{0D108BD9-81ED-4DB2-BD59-A6C34878D82A}">
                    <a16:rowId xmlns:a16="http://schemas.microsoft.com/office/drawing/2014/main" val="3247190516"/>
                  </a:ext>
                </a:extLst>
              </a:tr>
              <a:tr h="370840">
                <a:tc>
                  <a:txBody>
                    <a:bodyPr/>
                    <a:lstStyle/>
                    <a:p>
                      <a:pPr>
                        <a:buNone/>
                      </a:pPr>
                      <a:r>
                        <a:rPr lang="en-US" b="1"/>
                        <a:t>Blazor Hybrid</a:t>
                      </a:r>
                      <a:endParaRPr lang="en-US"/>
                    </a:p>
                  </a:txBody>
                  <a:tcPr anchor="ctr"/>
                </a:tc>
                <a:tc>
                  <a:txBody>
                    <a:bodyPr/>
                    <a:lstStyle/>
                    <a:p>
                      <a:pPr>
                        <a:buNone/>
                      </a:pPr>
                      <a:r>
                        <a:rPr lang="en-US"/>
                        <a:t>Native device</a:t>
                      </a:r>
                    </a:p>
                  </a:txBody>
                  <a:tcPr anchor="ctr"/>
                </a:tc>
                <a:tc>
                  <a:txBody>
                    <a:bodyPr/>
                    <a:lstStyle/>
                    <a:p>
                      <a:pPr>
                        <a:buNone/>
                      </a:pPr>
                      <a:r>
                        <a:rPr lang="en-US"/>
                        <a:t>Local runtime</a:t>
                      </a:r>
                    </a:p>
                  </a:txBody>
                  <a:tcPr anchor="ctr"/>
                </a:tc>
                <a:tc>
                  <a:txBody>
                    <a:bodyPr/>
                    <a:lstStyle/>
                    <a:p>
                      <a:pPr>
                        <a:buNone/>
                      </a:pPr>
                      <a:r>
                        <a:rPr lang="en-US" dirty="0"/>
                        <a:t>Mobile/Desktop apps</a:t>
                      </a:r>
                    </a:p>
                  </a:txBody>
                  <a:tcPr anchor="ctr"/>
                </a:tc>
                <a:extLst>
                  <a:ext uri="{0D108BD9-81ED-4DB2-BD59-A6C34878D82A}">
                    <a16:rowId xmlns:a16="http://schemas.microsoft.com/office/drawing/2014/main" val="185105542"/>
                  </a:ext>
                </a:extLst>
              </a:tr>
            </a:tbl>
          </a:graphicData>
        </a:graphic>
      </p:graphicFrame>
    </p:spTree>
    <p:extLst>
      <p:ext uri="{BB962C8B-B14F-4D97-AF65-F5344CB8AC3E}">
        <p14:creationId xmlns:p14="http://schemas.microsoft.com/office/powerpoint/2010/main" val="225093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63B6-3610-9D5C-54F7-B260EAD6BAB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92E2B1-3886-D469-562E-1EEAC8380712}"/>
              </a:ext>
            </a:extLst>
          </p:cNvPr>
          <p:cNvSpPr>
            <a:spLocks noGrp="1"/>
          </p:cNvSpPr>
          <p:nvPr>
            <p:ph type="title"/>
          </p:nvPr>
        </p:nvSpPr>
        <p:spPr>
          <a:xfrm>
            <a:off x="816864" y="228600"/>
            <a:ext cx="10871200" cy="990600"/>
          </a:xfrm>
        </p:spPr>
        <p:txBody>
          <a:bodyPr/>
          <a:lstStyle/>
          <a:p>
            <a:r>
              <a:rPr lang="en-US" dirty="0"/>
              <a:t>Advantages of Using Blazor</a:t>
            </a:r>
          </a:p>
        </p:txBody>
      </p:sp>
      <p:sp>
        <p:nvSpPr>
          <p:cNvPr id="7" name="Content Placeholder 6">
            <a:extLst>
              <a:ext uri="{FF2B5EF4-FFF2-40B4-BE49-F238E27FC236}">
                <a16:creationId xmlns:a16="http://schemas.microsoft.com/office/drawing/2014/main" id="{8FD298D8-65F6-1D4B-1DA2-531DD90F20FD}"/>
              </a:ext>
            </a:extLst>
          </p:cNvPr>
          <p:cNvSpPr>
            <a:spLocks noGrp="1"/>
          </p:cNvSpPr>
          <p:nvPr>
            <p:ph sz="quarter" idx="1"/>
          </p:nvPr>
        </p:nvSpPr>
        <p:spPr>
          <a:xfrm>
            <a:off x="816864" y="1600200"/>
            <a:ext cx="10871200" cy="4495800"/>
          </a:xfrm>
        </p:spPr>
        <p:txBody>
          <a:bodyPr>
            <a:normAutofit/>
          </a:bodyPr>
          <a:lstStyle/>
          <a:p>
            <a:r>
              <a:rPr lang="en-US" sz="2400" dirty="0"/>
              <a:t>Write all logic in </a:t>
            </a:r>
            <a:r>
              <a:rPr lang="en-US" sz="2400" b="1" dirty="0"/>
              <a:t>C#</a:t>
            </a:r>
            <a:r>
              <a:rPr lang="en-US" sz="2400" dirty="0"/>
              <a:t> — no JavaScript dependency.</a:t>
            </a:r>
          </a:p>
          <a:p>
            <a:r>
              <a:rPr lang="en-US" sz="2400" dirty="0"/>
              <a:t>Share code between </a:t>
            </a:r>
            <a:r>
              <a:rPr lang="en-US" sz="2400" b="1" dirty="0"/>
              <a:t>client and server</a:t>
            </a:r>
            <a:r>
              <a:rPr lang="en-US" sz="2400" dirty="0"/>
              <a:t> easily.</a:t>
            </a:r>
          </a:p>
          <a:p>
            <a:r>
              <a:rPr lang="en-US" sz="2400" dirty="0"/>
              <a:t>Built-in </a:t>
            </a:r>
            <a:r>
              <a:rPr lang="en-US" sz="2400" b="1" dirty="0"/>
              <a:t>dependency injection</a:t>
            </a:r>
            <a:r>
              <a:rPr lang="en-US" sz="2400" dirty="0"/>
              <a:t> and </a:t>
            </a:r>
            <a:r>
              <a:rPr lang="en-US" sz="2400" b="1" dirty="0"/>
              <a:t>routing</a:t>
            </a:r>
            <a:r>
              <a:rPr lang="en-US" sz="2400" dirty="0"/>
              <a:t>.</a:t>
            </a:r>
          </a:p>
          <a:p>
            <a:r>
              <a:rPr lang="en-US" sz="2400" dirty="0"/>
              <a:t>Strong </a:t>
            </a:r>
            <a:r>
              <a:rPr lang="en-US" sz="2400" b="1" dirty="0"/>
              <a:t>security</a:t>
            </a:r>
            <a:r>
              <a:rPr lang="en-US" sz="2400" dirty="0"/>
              <a:t>, </a:t>
            </a:r>
            <a:r>
              <a:rPr lang="en-US" sz="2400" b="1" dirty="0"/>
              <a:t>maintainability</a:t>
            </a:r>
            <a:r>
              <a:rPr lang="en-US" sz="2400" dirty="0"/>
              <a:t>, and </a:t>
            </a:r>
            <a:r>
              <a:rPr lang="en-US" sz="2400" b="1"/>
              <a:t>testability</a:t>
            </a:r>
            <a:r>
              <a:rPr lang="en-US" sz="2400"/>
              <a:t>.</a:t>
            </a:r>
          </a:p>
          <a:p>
            <a:r>
              <a:rPr lang="en-US" sz="2400"/>
              <a:t>Integrates </a:t>
            </a:r>
            <a:r>
              <a:rPr lang="en-US" sz="2400" dirty="0"/>
              <a:t>with </a:t>
            </a:r>
            <a:r>
              <a:rPr lang="en-US" sz="2400" b="1" dirty="0"/>
              <a:t>ASP.NET Core Web APIs</a:t>
            </a:r>
            <a:r>
              <a:rPr lang="en-US" sz="2400" dirty="0"/>
              <a:t>, </a:t>
            </a:r>
            <a:r>
              <a:rPr lang="en-US" sz="2400" b="1" dirty="0"/>
              <a:t>Entity Framework</a:t>
            </a:r>
            <a:r>
              <a:rPr lang="en-US" sz="2400" dirty="0"/>
              <a:t>, and </a:t>
            </a:r>
            <a:r>
              <a:rPr lang="en-US" sz="2400" b="1" dirty="0"/>
              <a:t>Azure</a:t>
            </a:r>
            <a:r>
              <a:rPr lang="en-US" sz="2400" dirty="0"/>
              <a:t>.</a:t>
            </a:r>
          </a:p>
        </p:txBody>
      </p:sp>
    </p:spTree>
    <p:extLst>
      <p:ext uri="{BB962C8B-B14F-4D97-AF65-F5344CB8AC3E}">
        <p14:creationId xmlns:p14="http://schemas.microsoft.com/office/powerpoint/2010/main" val="2343385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server-side hosting model</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92500" lnSpcReduction="20000"/>
          </a:bodyPr>
          <a:lstStyle/>
          <a:p>
            <a:r>
              <a:rPr lang="en-US" dirty="0"/>
              <a:t>in this model, the application is executed fully on the server within the  ASP.NET Core application.</a:t>
            </a:r>
          </a:p>
          <a:p>
            <a:r>
              <a:rPr lang="en-US" dirty="0"/>
              <a:t>In this model, between the client and the server, a SignalR connection is established.</a:t>
            </a:r>
          </a:p>
          <a:p>
            <a:r>
              <a:rPr lang="en-US" dirty="0"/>
              <a:t> To communicate with the HTML, the server-side application uses </a:t>
            </a:r>
            <a:r>
              <a:rPr lang="en-US" dirty="0" err="1"/>
              <a:t>SignalR</a:t>
            </a:r>
            <a:r>
              <a:rPr lang="en-US" dirty="0"/>
              <a:t>. </a:t>
            </a:r>
          </a:p>
          <a:p>
            <a:r>
              <a:rPr lang="en-US" dirty="0"/>
              <a:t>With this hosting model, the application is executed on the server. Between the client and the server a SignalR connection is established. </a:t>
            </a:r>
          </a:p>
          <a:p>
            <a:r>
              <a:rPr lang="en-US" dirty="0"/>
              <a:t>In this model,  When an event occurs on the client such as a button click, the information about the event is sent to the server over the SignalR connection. </a:t>
            </a:r>
          </a:p>
          <a:p>
            <a:r>
              <a:rPr lang="en-US" dirty="0"/>
              <a:t>We use the Blazor Server App template, to create a Blazor application with the server hosting model.</a:t>
            </a:r>
          </a:p>
          <a:p>
            <a:endParaRPr lang="en-US" dirty="0"/>
          </a:p>
        </p:txBody>
      </p:sp>
    </p:spTree>
    <p:extLst>
      <p:ext uri="{BB962C8B-B14F-4D97-AF65-F5344CB8AC3E}">
        <p14:creationId xmlns:p14="http://schemas.microsoft.com/office/powerpoint/2010/main" val="3518536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server-side</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a:bodyPr>
          <a:lstStyle/>
          <a:p>
            <a:r>
              <a:rPr lang="en-US" dirty="0"/>
              <a:t> </a:t>
            </a:r>
          </a:p>
        </p:txBody>
      </p:sp>
      <p:pic>
        <p:nvPicPr>
          <p:cNvPr id="1028" name="Picture 4">
            <a:extLst>
              <a:ext uri="{FF2B5EF4-FFF2-40B4-BE49-F238E27FC236}">
                <a16:creationId xmlns:a16="http://schemas.microsoft.com/office/drawing/2014/main" id="{9649AD73-BF7A-34FC-BBB8-60B011129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080" y="2017260"/>
            <a:ext cx="9753600"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10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Benefits of Blazor Server Applications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77500" lnSpcReduction="20000"/>
          </a:bodyPr>
          <a:lstStyle/>
          <a:p>
            <a:r>
              <a:rPr lang="en-US" dirty="0"/>
              <a:t>the benefit of this type of application is that the download size is really small, significantly smaller than the Blazor WebAssembly, which means the application loads much faster.</a:t>
            </a:r>
          </a:p>
          <a:p>
            <a:r>
              <a:rPr lang="en-US" dirty="0"/>
              <a:t>Because it runs on the server-side, it uses all the advantages of server capabilities with all the server-side APIs available.</a:t>
            </a:r>
          </a:p>
          <a:p>
            <a:r>
              <a:rPr lang="en-US" dirty="0"/>
              <a:t>Blazor server-side pre-renders HTML content before it is sent to the client's browser. This makes it search-engine friendly, and there is no perceivable start-up time.</a:t>
            </a:r>
          </a:p>
          <a:p>
            <a:r>
              <a:rPr lang="en-US" dirty="0"/>
              <a:t>Blazor server-side apps will work on older browsers (such as Internet Explorer 11) as there is no requirement for Web Assembly, only HTML and JavaScript. As the code executes on the server, it is also possible to debug our .NET code in Visual Studio.</a:t>
            </a:r>
          </a:p>
          <a:p>
            <a:r>
              <a:rPr lang="en-US" dirty="0"/>
              <a:t>Additionally, we have full debugging support and our application can work on browsers that don’t support WebAssembly. This means, older browsers are supported.</a:t>
            </a:r>
          </a:p>
        </p:txBody>
      </p:sp>
    </p:spTree>
    <p:extLst>
      <p:ext uri="{BB962C8B-B14F-4D97-AF65-F5344CB8AC3E}">
        <p14:creationId xmlns:p14="http://schemas.microsoft.com/office/powerpoint/2010/main" val="333687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WebAssembly </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77500" lnSpcReduction="20000"/>
          </a:bodyPr>
          <a:lstStyle/>
          <a:p>
            <a:r>
              <a:rPr lang="en-US" dirty="0"/>
              <a:t> It is the  client-side hosting model.</a:t>
            </a:r>
          </a:p>
          <a:p>
            <a:r>
              <a:rPr lang="en-US" dirty="0"/>
              <a:t>This type of application runs on the client in the browser with the help of WebAssembly.</a:t>
            </a:r>
          </a:p>
          <a:p>
            <a:r>
              <a:rPr lang="en-US" dirty="0"/>
              <a:t>Blazor WebAssembly is a single-page app (SPA) framework for building interactive client-side web apps with . NET.</a:t>
            </a:r>
          </a:p>
          <a:p>
            <a:r>
              <a:rPr lang="en-US" dirty="0"/>
              <a:t> Running . NET code inside web browsers is made possible by WebAssembly (abbreviated </a:t>
            </a:r>
            <a:r>
              <a:rPr lang="en-US" dirty="0" err="1"/>
              <a:t>wasm</a:t>
            </a:r>
            <a:r>
              <a:rPr lang="en-US" dirty="0"/>
              <a:t> ).</a:t>
            </a:r>
          </a:p>
          <a:p>
            <a:r>
              <a:rPr lang="en-US" dirty="0"/>
              <a:t>As soon as the application starts it downloads everything to the browser (HTML, CSS, and JavaScript files) and it also downloads the assembly (.NET Standard DLL) files required for the application.</a:t>
            </a:r>
          </a:p>
          <a:p>
            <a:r>
              <a:rPr lang="en-US" dirty="0"/>
              <a:t>So, once the application starts, it can work in offline mode, meaning, it doesn’t require the server. Because this type of application is composed of static files, we can deploy it to the CDN or Server, or Azure Storage for static websites.</a:t>
            </a:r>
          </a:p>
          <a:p>
            <a:endParaRPr lang="en-US" dirty="0"/>
          </a:p>
        </p:txBody>
      </p:sp>
    </p:spTree>
    <p:extLst>
      <p:ext uri="{BB962C8B-B14F-4D97-AF65-F5344CB8AC3E}">
        <p14:creationId xmlns:p14="http://schemas.microsoft.com/office/powerpoint/2010/main" val="223454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Blazor WebAssembly </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a:bodyPr>
          <a:lstStyle/>
          <a:p>
            <a:r>
              <a:rPr lang="en-US" dirty="0"/>
              <a:t>We use the Blazor WebAssembly App template, to create a Blazor application with the client-side hosting model.</a:t>
            </a:r>
          </a:p>
          <a:p>
            <a:r>
              <a:rPr lang="en-US" dirty="0"/>
              <a:t>WebAssembly is a web standard, it is supported on all major browsers, which means also client-side Blazor apps will run inside a browser on Windows/Linux/Mac/Android and iOS.</a:t>
            </a:r>
          </a:p>
          <a:p>
            <a:r>
              <a:rPr lang="en-US" dirty="0"/>
              <a:t>Blazor does not require .NET to be installed on the client in order to run through WebAssembly.</a:t>
            </a:r>
          </a:p>
          <a:p>
            <a:endParaRPr lang="en-US" dirty="0"/>
          </a:p>
          <a:p>
            <a:endParaRPr lang="en-US" dirty="0"/>
          </a:p>
        </p:txBody>
      </p:sp>
      <p:pic>
        <p:nvPicPr>
          <p:cNvPr id="2" name="Picture 2">
            <a:extLst>
              <a:ext uri="{FF2B5EF4-FFF2-40B4-BE49-F238E27FC236}">
                <a16:creationId xmlns:a16="http://schemas.microsoft.com/office/drawing/2014/main" id="{26AFB75E-52F0-E96F-B3F9-34661C64C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4786" y="3747875"/>
            <a:ext cx="2667000" cy="2511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49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lstStyle/>
          <a:p>
            <a:r>
              <a:rPr lang="en-US" dirty="0"/>
              <a:t>Benefits of Blazor WebAssembly  Applications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a:bodyPr>
          <a:lstStyle/>
          <a:p>
            <a:r>
              <a:rPr lang="en-US" dirty="0"/>
              <a:t>The first benefit is that this type of application is very fast, with the speed almost like the native browser applications.</a:t>
            </a:r>
          </a:p>
          <a:p>
            <a:r>
              <a:rPr lang="en-US" dirty="0"/>
              <a:t>As we’ve said, the Blazor WebAssembly can work in offline mode, which means it doesn’t require a connection to the server.</a:t>
            </a:r>
          </a:p>
          <a:p>
            <a:r>
              <a:rPr lang="en-US" dirty="0"/>
              <a:t>Additionally, serverless deployment is possible, which means you don’t need a server, just something to get the files to the browser.</a:t>
            </a:r>
          </a:p>
          <a:p>
            <a:r>
              <a:rPr lang="en-US" dirty="0"/>
              <a:t>Finally, this type of application can run in all modern browsers without additional plugins. This makes deployment easy on all sorts of devices.</a:t>
            </a:r>
          </a:p>
        </p:txBody>
      </p:sp>
    </p:spTree>
    <p:extLst>
      <p:ext uri="{BB962C8B-B14F-4D97-AF65-F5344CB8AC3E}">
        <p14:creationId xmlns:p14="http://schemas.microsoft.com/office/powerpoint/2010/main" val="10876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FB690C-4DC4-1296-82E9-4C010F249E8E}"/>
              </a:ext>
            </a:extLst>
          </p:cNvPr>
          <p:cNvSpPr>
            <a:spLocks noGrp="1"/>
          </p:cNvSpPr>
          <p:nvPr>
            <p:ph type="title"/>
          </p:nvPr>
        </p:nvSpPr>
        <p:spPr>
          <a:xfrm>
            <a:off x="816864" y="228600"/>
            <a:ext cx="10871200" cy="990600"/>
          </a:xfrm>
        </p:spPr>
        <p:txBody>
          <a:bodyPr>
            <a:normAutofit/>
          </a:bodyPr>
          <a:lstStyle/>
          <a:p>
            <a:r>
              <a:rPr lang="en-US" dirty="0"/>
              <a:t>Downsides of Blazor WebAssembly Applications</a:t>
            </a:r>
          </a:p>
        </p:txBody>
      </p:sp>
      <p:sp>
        <p:nvSpPr>
          <p:cNvPr id="7" name="Content Placeholder 6">
            <a:extLst>
              <a:ext uri="{FF2B5EF4-FFF2-40B4-BE49-F238E27FC236}">
                <a16:creationId xmlns:a16="http://schemas.microsoft.com/office/drawing/2014/main" id="{65006F41-9BA1-5738-48D7-C687B942D860}"/>
              </a:ext>
            </a:extLst>
          </p:cNvPr>
          <p:cNvSpPr>
            <a:spLocks noGrp="1"/>
          </p:cNvSpPr>
          <p:nvPr>
            <p:ph sz="quarter" idx="1"/>
          </p:nvPr>
        </p:nvSpPr>
        <p:spPr>
          <a:xfrm>
            <a:off x="816864" y="1600200"/>
            <a:ext cx="10871200" cy="4495800"/>
          </a:xfrm>
        </p:spPr>
        <p:txBody>
          <a:bodyPr>
            <a:normAutofit fontScale="92500" lnSpcReduction="20000"/>
          </a:bodyPr>
          <a:lstStyle/>
          <a:p>
            <a:r>
              <a:rPr lang="en-US" dirty="0"/>
              <a:t>Since this type of application runs only in the browser, it is restricted to the browser’s capabilities.</a:t>
            </a:r>
          </a:p>
          <a:p>
            <a:r>
              <a:rPr lang="en-US" dirty="0"/>
              <a:t>Another thing is that everything executes in the browser. This could be a downside if the application does some heavy lifting, and our browser may not have enough resources to support that.</a:t>
            </a:r>
          </a:p>
          <a:p>
            <a:r>
              <a:rPr lang="en-US" dirty="0"/>
              <a:t>An additional downside is that Blazor WebAssembly downloads all the files to the client, meaning loading times are longer.</a:t>
            </a:r>
          </a:p>
          <a:p>
            <a:r>
              <a:rPr lang="en-US" dirty="0"/>
              <a:t>Finally, because WebAssembly is required to run this type of application, older browsers (without WebAssembly support) can’t run the Blazor WebAssembly applications. That said if our application requires running on an older browser then it is a better choice to use the Blazor server-side application.</a:t>
            </a:r>
          </a:p>
          <a:p>
            <a:endParaRPr lang="en-US" dirty="0"/>
          </a:p>
        </p:txBody>
      </p:sp>
    </p:spTree>
    <p:extLst>
      <p:ext uri="{BB962C8B-B14F-4D97-AF65-F5344CB8AC3E}">
        <p14:creationId xmlns:p14="http://schemas.microsoft.com/office/powerpoint/2010/main" val="28054426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5897</TotalTime>
  <Words>1448</Words>
  <Application>Microsoft Office PowerPoint</Application>
  <PresentationFormat>Widescreen</PresentationFormat>
  <Paragraphs>123</Paragraphs>
  <Slides>16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Courier New</vt:lpstr>
      <vt:lpstr>Tw Cen MT</vt:lpstr>
      <vt:lpstr>Wingdings</vt:lpstr>
      <vt:lpstr>Wingdings 2</vt:lpstr>
      <vt:lpstr>Median</vt:lpstr>
      <vt:lpstr>Custom Design</vt:lpstr>
      <vt:lpstr>Blazor</vt:lpstr>
      <vt:lpstr>data-driven web applications</vt:lpstr>
      <vt:lpstr>data-driven web applications</vt:lpstr>
      <vt:lpstr>What is Blazor</vt:lpstr>
      <vt:lpstr>Blazor Key Highlights</vt:lpstr>
      <vt:lpstr>Blazor Key Features</vt:lpstr>
      <vt:lpstr>Blazor Key Concepts</vt:lpstr>
      <vt:lpstr>Blazor Hosting Models</vt:lpstr>
      <vt:lpstr>Advantages of Using Blazor</vt:lpstr>
      <vt:lpstr>Blazor server-side hosting model</vt:lpstr>
      <vt:lpstr>Blazor server-side</vt:lpstr>
      <vt:lpstr>Benefits of Blazor Server Applications</vt:lpstr>
      <vt:lpstr>Blazor WebAssembly </vt:lpstr>
      <vt:lpstr>Blazor WebAssembly </vt:lpstr>
      <vt:lpstr>Benefits of Blazor WebAssembly  Applications</vt:lpstr>
      <vt:lpstr>Downsides of Blazor WebAssembly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Blazor</dc:title>
  <dc:creator>San San</dc:creator>
  <cp:lastModifiedBy>Santhosh Kumar</cp:lastModifiedBy>
  <cp:revision>22</cp:revision>
  <dcterms:created xsi:type="dcterms:W3CDTF">2023-04-01T13:46:15Z</dcterms:created>
  <dcterms:modified xsi:type="dcterms:W3CDTF">2025-10-14T17:22:26Z</dcterms:modified>
</cp:coreProperties>
</file>